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16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5.png" ContentType="image/png"/>
  <Override PartName="/ppt/media/image6.png" ContentType="image/png"/>
  <Override PartName="/ppt/media/image14.png" ContentType="image/png"/>
  <Override PartName="/ppt/media/image5.png" ContentType="image/png"/>
  <Override PartName="/ppt/media/image21.png" ContentType="image/png"/>
  <Override PartName="/ppt/media/image19.png" ContentType="image/png"/>
  <Override PartName="/ppt/media/image10.png" ContentType="image/png"/>
  <Override PartName="/ppt/media/image1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5b6b63"/>
                </a:solidFill>
                <a:latin typeface="Calibri"/>
              </a:defRPr>
            </a:pPr>
            <a:r>
              <a:rPr b="0" sz="1200" spc="-1" strike="noStrike">
                <a:solidFill>
                  <a:srgbClr val="5b6b63"/>
                </a:solidFill>
                <a:latin typeface="Calibri"/>
              </a:rPr>
              <a:t>Ruwe waarden van athletes_raw["position"].value_counts()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Atleten</c:v>
                </c:pt>
              </c:strCache>
            </c:strRef>
          </c:tx>
          <c:spPr>
            <a:solidFill>
              <a:srgbClr val="2a78d6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eda100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Pt>
            <c:idx val="8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Pt>
            <c:idx val="9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10"/>
            <c:invertIfNegative val="0"/>
            <c:spPr>
              <a:solidFill>
                <a:srgbClr val="eda100"/>
              </a:solidFill>
              <a:ln w="0">
                <a:noFill/>
              </a:ln>
            </c:spPr>
          </c:dPt>
          <c:dPt>
            <c:idx val="11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12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Lbls>
            <c:numFmt formatCode="#,##0" sourceLinked="0"/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8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9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0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1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2"/>
              <c:numFmt formatCode="#,##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3"/>
                <c:pt idx="0">
                  <c:v>FWD</c:v>
                </c:pt>
                <c:pt idx="1">
                  <c:v>"defender "</c:v>
                </c:pt>
                <c:pt idx="2">
                  <c:v>forward</c:v>
                </c:pt>
                <c:pt idx="3">
                  <c:v>midfielder</c:v>
                </c:pt>
                <c:pt idx="4">
                  <c:v>MID</c:v>
                </c:pt>
                <c:pt idx="5">
                  <c:v>goalkeeper</c:v>
                </c:pt>
                <c:pt idx="6">
                  <c:v>Midfielder</c:v>
                </c:pt>
                <c:pt idx="7">
                  <c:v>Defender</c:v>
                </c:pt>
                <c:pt idx="8">
                  <c:v>defender</c:v>
                </c:pt>
                <c:pt idx="9">
                  <c:v>Forward</c:v>
                </c:pt>
                <c:pt idx="10">
                  <c:v>GK</c:v>
                </c:pt>
                <c:pt idx="11">
                  <c:v>"forward "</c:v>
                </c:pt>
                <c:pt idx="12">
                  <c:v>DEF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3"/>
                <c:pt idx="0">
                  <c:v>6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  <c:pt idx="8">
                  <c:v>3</c:v>
                </c:pt>
                <c:pt idx="9">
                  <c:v>2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gapWidth val="35"/>
        <c:overlap val="0"/>
        <c:axId val="854011"/>
        <c:axId val="15316521"/>
      </c:barChart>
      <c:catAx>
        <c:axId val="854011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1200" spc="-1" strike="noStrike">
                <a:solidFill>
                  <a:srgbClr val="1a1f1c"/>
                </a:solidFill>
                <a:latin typeface="Calibri"/>
              </a:defRPr>
            </a:pPr>
          </a:p>
        </c:txPr>
        <c:crossAx val="15316521"/>
        <c:crosses val="autoZero"/>
        <c:auto val="1"/>
        <c:lblAlgn val="ctr"/>
        <c:lblOffset val="100"/>
        <c:noMultiLvlLbl val="0"/>
      </c:catAx>
      <c:valAx>
        <c:axId val="15316521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854011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5b6b63"/>
                </a:solidFill>
                <a:latin typeface="Calibri"/>
              </a:defRPr>
            </a:pPr>
            <a:r>
              <a:rPr b="0" sz="1200" spc="-1" strike="noStrike">
                <a:solidFill>
                  <a:srgbClr val="5b6b63"/>
                </a:solidFill>
                <a:latin typeface="Calibri"/>
              </a:rPr>
              <a:t>Minuten per hartslagzone, sessie van 40 minuten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stack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Zone 1</c:v>
                </c:pt>
              </c:strCache>
            </c:strRef>
          </c:tx>
          <c:spPr>
            <a:solidFill>
              <a:srgbClr val="cde2f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Amber Jacobs</c:v>
                </c:pt>
                <c:pt idx="1">
                  <c:v>Bram Wouters</c:v>
                </c:pt>
                <c:pt idx="2">
                  <c:v>Emma Verhoeven</c:v>
                </c:pt>
                <c:pt idx="3">
                  <c:v>Stan Mertens</c:v>
                </c:pt>
                <c:pt idx="4">
                  <c:v>Yana De Backer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7.7</c:v>
                </c:pt>
                <c:pt idx="1">
                  <c:v>7.7</c:v>
                </c:pt>
                <c:pt idx="2">
                  <c:v>7.5</c:v>
                </c:pt>
                <c:pt idx="3">
                  <c:v>7.8</c:v>
                </c:pt>
                <c:pt idx="4">
                  <c:v>8.4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Zone 2</c:v>
                </c:pt>
              </c:strCache>
            </c:strRef>
          </c:tx>
          <c:spPr>
            <a:solidFill>
              <a:srgbClr val="86b6ef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Amber Jacobs</c:v>
                </c:pt>
                <c:pt idx="1">
                  <c:v>Bram Wouters</c:v>
                </c:pt>
                <c:pt idx="2">
                  <c:v>Emma Verhoeven</c:v>
                </c:pt>
                <c:pt idx="3">
                  <c:v>Stan Mertens</c:v>
                </c:pt>
                <c:pt idx="4">
                  <c:v>Yana De Backer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2.1</c:v>
                </c:pt>
                <c:pt idx="1">
                  <c:v>1.9</c:v>
                </c:pt>
                <c:pt idx="2">
                  <c:v>2</c:v>
                </c:pt>
                <c:pt idx="3">
                  <c:v>2</c:v>
                </c:pt>
                <c:pt idx="4">
                  <c:v>1.6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Zone 3</c:v>
                </c:pt>
              </c:strCache>
            </c:strRef>
          </c:tx>
          <c:spPr>
            <a:solidFill>
              <a:srgbClr val="3987e5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Amber Jacobs</c:v>
                </c:pt>
                <c:pt idx="1">
                  <c:v>Bram Wouters</c:v>
                </c:pt>
                <c:pt idx="2">
                  <c:v>Emma Verhoeven</c:v>
                </c:pt>
                <c:pt idx="3">
                  <c:v>Stan Mertens</c:v>
                </c:pt>
                <c:pt idx="4">
                  <c:v>Yana De Backer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5"/>
                <c:pt idx="0">
                  <c:v>7.8</c:v>
                </c:pt>
                <c:pt idx="1">
                  <c:v>1.8</c:v>
                </c:pt>
                <c:pt idx="2">
                  <c:v>2.3</c:v>
                </c:pt>
                <c:pt idx="3">
                  <c:v>5.4</c:v>
                </c:pt>
                <c:pt idx="4">
                  <c:v>7.9</c:v>
                </c:pt>
              </c:numCache>
            </c:numRef>
          </c:val>
        </c:ser>
        <c:ser>
          <c:idx val="3"/>
          <c:order val="3"/>
          <c:tx>
            <c:strRef>
              <c:f>label 3</c:f>
              <c:strCache>
                <c:ptCount val="1"/>
                <c:pt idx="0">
                  <c:v>Zone 4</c:v>
                </c:pt>
              </c:strCache>
            </c:strRef>
          </c:tx>
          <c:spPr>
            <a:solidFill>
              <a:srgbClr val="1c5ca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Amber Jacobs</c:v>
                </c:pt>
                <c:pt idx="1">
                  <c:v>Bram Wouters</c:v>
                </c:pt>
                <c:pt idx="2">
                  <c:v>Emma Verhoeven</c:v>
                </c:pt>
                <c:pt idx="3">
                  <c:v>Stan Mertens</c:v>
                </c:pt>
                <c:pt idx="4">
                  <c:v>Yana De Backer</c:v>
                </c:pt>
              </c:strCache>
            </c:strRef>
          </c:cat>
          <c:val>
            <c:numRef>
              <c:f>3</c:f>
              <c:numCache>
                <c:formatCode>General</c:formatCode>
                <c:ptCount val="5"/>
                <c:pt idx="0">
                  <c:v>20.6</c:v>
                </c:pt>
                <c:pt idx="1">
                  <c:v>19.6</c:v>
                </c:pt>
                <c:pt idx="2">
                  <c:v>20.8</c:v>
                </c:pt>
                <c:pt idx="3">
                  <c:v>22.4</c:v>
                </c:pt>
                <c:pt idx="4">
                  <c:v>19.4</c:v>
                </c:pt>
              </c:numCache>
            </c:numRef>
          </c:val>
        </c:ser>
        <c:ser>
          <c:idx val="4"/>
          <c:order val="4"/>
          <c:tx>
            <c:strRef>
              <c:f>label 4</c:f>
              <c:strCache>
                <c:ptCount val="1"/>
                <c:pt idx="0">
                  <c:v>Zone 5</c:v>
                </c:pt>
              </c:strCache>
            </c:strRef>
          </c:tx>
          <c:spPr>
            <a:solidFill>
              <a:srgbClr val="0d366b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Amber Jacobs</c:v>
                </c:pt>
                <c:pt idx="1">
                  <c:v>Bram Wouters</c:v>
                </c:pt>
                <c:pt idx="2">
                  <c:v>Emma Verhoeven</c:v>
                </c:pt>
                <c:pt idx="3">
                  <c:v>Stan Mertens</c:v>
                </c:pt>
                <c:pt idx="4">
                  <c:v>Yana De Backer</c:v>
                </c:pt>
              </c:strCache>
            </c:strRef>
          </c:cat>
          <c:val>
            <c:numRef>
              <c:f>4</c:f>
              <c:numCache>
                <c:formatCode>General</c:formatCode>
                <c:ptCount val="5"/>
                <c:pt idx="0">
                  <c:v>1.7</c:v>
                </c:pt>
                <c:pt idx="1">
                  <c:v>8.8</c:v>
                </c:pt>
                <c:pt idx="2">
                  <c:v>7.3</c:v>
                </c:pt>
                <c:pt idx="3">
                  <c:v>2.4</c:v>
                </c:pt>
                <c:pt idx="4">
                  <c:v>2.7</c:v>
                </c:pt>
              </c:numCache>
            </c:numRef>
          </c:val>
        </c:ser>
        <c:gapWidth val="45"/>
        <c:overlap val="100"/>
        <c:axId val="7166484"/>
        <c:axId val="90859744"/>
      </c:barChart>
      <c:catAx>
        <c:axId val="7166484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1200" spc="-1" strike="noStrike">
                <a:solidFill>
                  <a:srgbClr val="5b6b63"/>
                </a:solidFill>
                <a:latin typeface="Calibri"/>
              </a:defRPr>
            </a:pPr>
          </a:p>
        </c:txPr>
        <c:crossAx val="90859744"/>
        <c:crosses val="autoZero"/>
        <c:auto val="1"/>
        <c:lblAlgn val="ctr"/>
        <c:lblOffset val="100"/>
        <c:noMultiLvlLbl val="0"/>
      </c:catAx>
      <c:valAx>
        <c:axId val="90859744"/>
        <c:scaling>
          <c:orientation val="minMax"/>
          <c:max val="40"/>
        </c:scaling>
        <c:delete val="0"/>
        <c:axPos val="l"/>
        <c:majorGridlines>
          <c:spPr>
            <a:ln w="9360">
              <a:solidFill>
                <a:srgbClr val="dce3de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b="0" sz="1100" spc="-1" strike="noStrike">
                <a:solidFill>
                  <a:srgbClr val="5b6b63"/>
                </a:solidFill>
                <a:latin typeface="Calibri"/>
              </a:defRPr>
            </a:pPr>
          </a:p>
        </c:txPr>
        <c:crossAx val="7166484"/>
        <c:crosses val="autoZero"/>
        <c:crossBetween val="between"/>
        <c:majorUnit val="10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200" spc="-1" strike="noStrike">
              <a:solidFill>
                <a:srgbClr val="1a1f1c"/>
              </a:solidFill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400" spc="-1" strike="noStrike">
                <a:solidFill>
                  <a:srgbClr val="1a1f1c"/>
                </a:solidFill>
                <a:latin typeface="Calibri"/>
              </a:defRPr>
            </a:pPr>
            <a:r>
              <a:rPr b="0" sz="1400" spc="-1" strike="noStrike">
                <a:solidFill>
                  <a:srgbClr val="1a1f1c"/>
                </a:solidFill>
                <a:latin typeface="Calibri"/>
              </a:rPr>
              <a:t>As vanaf 0: eerlijk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Gemiddelde sprint 30 m (s)</c:v>
                </c:pt>
              </c:strCache>
            </c:strRef>
          </c:tx>
          <c:spPr>
            <a:solidFill>
              <a:srgbClr val="2a78d6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eda100"/>
              </a:solidFill>
              <a:ln w="0">
                <a:noFill/>
              </a:ln>
            </c:spPr>
          </c:dPt>
          <c:dLbls>
            <c:numFmt formatCode="0.00" sourceLinked="0"/>
            <c:dLbl>
              <c:idx val="0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Forward</c:v>
                </c:pt>
                <c:pt idx="1">
                  <c:v>Midfielder</c:v>
                </c:pt>
                <c:pt idx="2">
                  <c:v>Defender</c:v>
                </c:pt>
                <c:pt idx="3">
                  <c:v>Goalkeeper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5.185</c:v>
                </c:pt>
                <c:pt idx="1">
                  <c:v>5.385</c:v>
                </c:pt>
                <c:pt idx="2">
                  <c:v>5.499</c:v>
                </c:pt>
                <c:pt idx="3">
                  <c:v>5.382</c:v>
                </c:pt>
              </c:numCache>
            </c:numRef>
          </c:val>
        </c:ser>
        <c:gapWidth val="40"/>
        <c:overlap val="0"/>
        <c:axId val="19742730"/>
        <c:axId val="31806699"/>
      </c:barChart>
      <c:catAx>
        <c:axId val="1974273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b="0" sz="1200" spc="-1" strike="noStrike">
                <a:solidFill>
                  <a:srgbClr val="5b6b63"/>
                </a:solidFill>
                <a:latin typeface="Calibri"/>
              </a:defRPr>
            </a:pPr>
          </a:p>
        </c:txPr>
        <c:crossAx val="31806699"/>
        <c:crosses val="autoZero"/>
        <c:auto val="1"/>
        <c:lblAlgn val="ctr"/>
        <c:lblOffset val="100"/>
        <c:noMultiLvlLbl val="0"/>
      </c:catAx>
      <c:valAx>
        <c:axId val="31806699"/>
        <c:scaling>
          <c:orientation val="minMax"/>
          <c:max val="6"/>
          <c:min val="0"/>
        </c:scaling>
        <c:delete val="0"/>
        <c:axPos val="l"/>
        <c:majorGridlines>
          <c:spPr>
            <a:ln w="9360">
              <a:solidFill>
                <a:srgbClr val="dce3de"/>
              </a:solidFill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1100" spc="-1" strike="noStrike">
                <a:solidFill>
                  <a:srgbClr val="5b6b63"/>
                </a:solidFill>
                <a:latin typeface="Calibri"/>
              </a:defRPr>
            </a:pPr>
          </a:p>
        </c:txPr>
        <c:crossAx val="19742730"/>
        <c:crosses val="autoZero"/>
        <c:crossBetween val="between"/>
        <c:majorUnit val="1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400" spc="-1" strike="noStrike">
                <a:solidFill>
                  <a:srgbClr val="1a1f1c"/>
                </a:solidFill>
                <a:latin typeface="Calibri"/>
              </a:defRPr>
            </a:pPr>
            <a:r>
              <a:rPr b="0" sz="1400" spc="-1" strike="noStrike">
                <a:solidFill>
                  <a:srgbClr val="1a1f1c"/>
                </a:solidFill>
                <a:latin typeface="Calibri"/>
              </a:rPr>
              <a:t>Afgeknotte as: misleidend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Gemiddelde sprint 30 m (s)</c:v>
                </c:pt>
              </c:strCache>
            </c:strRef>
          </c:tx>
          <c:spPr>
            <a:solidFill>
              <a:srgbClr val="2a78d6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a78d6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eb6834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1baf7a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eda100"/>
              </a:solidFill>
              <a:ln w="0">
                <a:noFill/>
              </a:ln>
            </c:spPr>
          </c:dPt>
          <c:dLbls>
            <c:numFmt formatCode="0.00" sourceLinked="0"/>
            <c:dLbl>
              <c:idx val="0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0" sourceLinked="0"/>
              <c:txPr>
                <a:bodyPr wrap="square"/>
                <a:lstStyle/>
                <a:p>
                  <a:pPr>
                    <a:defRPr b="0" sz="1100" spc="-1" strike="noStrike">
                      <a:solidFill>
                        <a:srgbClr val="1a1f1c"/>
                      </a:solidFill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100" spc="-1" strike="noStrike">
                    <a:solidFill>
                      <a:srgbClr val="1a1f1c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Forward</c:v>
                </c:pt>
                <c:pt idx="1">
                  <c:v>Midfielder</c:v>
                </c:pt>
                <c:pt idx="2">
                  <c:v>Defender</c:v>
                </c:pt>
                <c:pt idx="3">
                  <c:v>Goalkeeper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5.185</c:v>
                </c:pt>
                <c:pt idx="1">
                  <c:v>5.385</c:v>
                </c:pt>
                <c:pt idx="2">
                  <c:v>5.499</c:v>
                </c:pt>
                <c:pt idx="3">
                  <c:v>5.382</c:v>
                </c:pt>
              </c:numCache>
            </c:numRef>
          </c:val>
        </c:ser>
        <c:gapWidth val="40"/>
        <c:overlap val="0"/>
        <c:axId val="38367684"/>
        <c:axId val="7608437"/>
      </c:barChart>
      <c:catAx>
        <c:axId val="383676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b="0" sz="1200" spc="-1" strike="noStrike">
                <a:solidFill>
                  <a:srgbClr val="5b6b63"/>
                </a:solidFill>
                <a:latin typeface="Calibri"/>
              </a:defRPr>
            </a:pPr>
          </a:p>
        </c:txPr>
        <c:crossAx val="7608437"/>
        <c:crosses val="autoZero"/>
        <c:auto val="1"/>
        <c:lblAlgn val="ctr"/>
        <c:lblOffset val="100"/>
        <c:noMultiLvlLbl val="0"/>
      </c:catAx>
      <c:valAx>
        <c:axId val="7608437"/>
        <c:scaling>
          <c:orientation val="minMax"/>
          <c:max val="5.55"/>
          <c:min val="5.1"/>
        </c:scaling>
        <c:delete val="0"/>
        <c:axPos val="l"/>
        <c:majorGridlines>
          <c:spPr>
            <a:ln w="9360">
              <a:solidFill>
                <a:srgbClr val="dce3de"/>
              </a:solidFill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1100" spc="-1" strike="noStrike">
                <a:solidFill>
                  <a:srgbClr val="5b6b63"/>
                </a:solidFill>
                <a:latin typeface="Calibri"/>
              </a:defRPr>
            </a:pPr>
          </a:p>
        </c:txPr>
        <c:crossAx val="38367684"/>
        <c:crosses val="autoZero"/>
        <c:crossBetween val="between"/>
        <c:majorUnit val="0.1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A186988-A0B6-4340-97B6-24DF5FCB03F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Drie namiddagsessies met één verhaallijn: de studenten zijn de nieuwe data-analist van een jeugdclub voor voetbal en atletiek, en brengen drie rommelige exportbestanden helemaal tot een interactief dashboard.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F66865-C598-48C3-BEE0-2FC49CAD2F9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Dezelfde drie bestanden komen in alle drie de sessies terug. De problemen in de data zijn bewust: ze worden allemaal gevonden en opgelost in labo 3, en sommige komen terug in labo 4 (de dubbele atleet en de merge).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4A0F83-1017-48D4-89A9-8B9EA4D92D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Elk labo bouwt verder op het vorige: de opkuis-pipeline van labo 3 komt in compacte vorm terug aan het begin van labo 4 en 5.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C237E3-6784-4A95-BBCC-CC733DCC695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Toon de demoslider bovenaan labo 3 om reactiviteit concreet te maken. De antwoordcontroles staan in de map checks/ van de repository, zodat studenten het antwoord niet uit het notebook kunnen aflezen.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1EC72D-0FBE-4324-925C-83EC34FFAB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Leerdoelen van labo 3. Op het einde van de sessie hebben de studenten een nette atletentabel en een nette testtabel.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AC26A7-1E7E-414E-8CB3-8A93F5658A2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Tijden zoals in de sectiekoppen van het notebook. De pauze is het gat tussen 14:50 en 15:05.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E652D2-3FEC-454D-A03C-FAADEFF4227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Start met de ruwe tekst van tests.csv (opwarmcel) om te tonen waarom een tabelbibliotheek nodig is: alles is tekst, er zijn geen kolomtypes en niets kan gefilterd of samengevat worden.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ACB7-360F-4875-844C-65148669F3C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Als je tests_raw aflopend sorteert op sprinttijd, staan er waarden in de duizenden bovenaan - de millisecondenfout, die terugkomt bij het opkuisen. Oefeningen 2 en 3 gaan over deze slide.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71F13E-A099-46E9-9EF6-BAFDD600C85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Oefening 4 (BMI) en oefening 5 (leeftijd) oefenen dit in. De studenten werken op een .copy() van athletes_raw, zodat de ruwe tabel onaangeroerd blijft.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D17B6E-3F3F-4141-9123-4A1B5C3500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 kleuren tonen bij welke echte positie elk label hoort. .str.strip().str.lower() voegt de meeste varianten samen; voor de overblijvende afkortingen heb je een expliciete mapping (dictionary) nodig. Oefening 6.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2DE724-BE72-4033-8F4A-8C867C47D9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Ontbrekende waarden: 2 keer geslacht en 2 keer lengte in athletes.csv, telkens 6 waarden in drie kolommen van tests. De quiz in het notebook vraagt wat je doet met twee ontbrekende lengtes. Oefeningen 7 (eenheden sprint) en 8 (dubbels). Het notebook sluit deze sectie af met één pipeline die alle stappen achter elkaar doet: assign, drop_duplicates, rename, astype.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219B60-3EFA-440B-BE8D-2A88FF02BA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 uitdaging geeft een voorsmaakje van groupby en merge, de kern van labo 4. Sluit af met het exit ticket: één truc om te hergebruiken en één ding dat nog onduidelijk is.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13F1F7-175B-4281-A1AA-EA223433F9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Leerdoelen van labo 4. Het labo herhaalt eerst de opkuis van vorige week in compacte vorm, bewust zonder de dubbele atleet te verwijderen.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00703D-1B92-45C3-B198-CFC22AFDE8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 herhalingscel geeft een echte KeyError tot de studenten ze herstellen - dat is de bedoeling.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5C328C-A25E-4B83-97BD-283690615CA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observed=True slaat lege combinaties van categorieën over. Oefening 1: groepeer per geslacht en leeftijdscategorie en bereken de gemiddelde lengte en het gemiddelde gewicht.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B63FCB-32D2-4BB7-9BC9-23525C2C98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Hier zijn beide joins even lang omdat elke atleet een testresultaat heeft; met echte data is dat zelden zeker. Dubbels verwijderen na de merge zou ook de andere testmomenten van de overblijvende atleet weggooien. Oefening 2 telt de rijen die verloren gaan door het verwijderen van dubbels.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355C4A-A80B-45D9-AC40-B646E2016F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 tabel toont de eerste twee atleten, testmomenten 1 en 2, na het corrigeren van de eenheden. melt zet brede data terug om naar lange data, de vorm die plotly express in labo 5 verwacht. Oefening 3 doet hetzelfde voor spronghoogte, waar een positief verschil vooruitgang is.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4A1FB1-5E25-4CE0-B04E-A8E7070D41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Berekend uit hr_session.csv met de vuistregel 220 - leeftijd. rolling en resample hebben data nodig die op tijd gesorteerd is en een tijdsindex heeft. Oefening 4 berekent de minuten in zone 4-5 per atleet.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4A9926-7C51-4089-BD48-E18970385B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 minicase maken de studenten per twee. De afstand per rij is speed_kmh / 3600 km omdat er één meting per seconde is.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A52EF4-915B-465B-AEA6-9D73A1F3F1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Leerdoelen van labo 5. Het notebook laadt de volledige opkuis-pipeline opnieuw in één cel: combined (atleet x testmoment) en hr_zoned (per seconde, met een zone).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D46D74-5D9F-4894-BCD1-F33D737A19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POSITION_COLORS en ZONE_COLORS worden één keer bovenaan het notebook vastgelegd, zodat lezers de legende maar één keer moeten leren. Deze presentatie gebruikt dezelfde kleuren.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7D7EBD-C524-4906-8A6F-9418452A8DD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Een grafiektype zegt welke vraag het belangrijkst is. De verkeerde kiezen, of hem slordig tekenen, kan even goed misleiden als informeren.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6D4FEB-79B6-46D2-A655-F7CE74E5DA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Echte gemiddelden uit de opgekuiste data. In het notebook beoordelen de studenten de misleidende grafiek met een meerkeuzevraag: het enige juiste antwoord is dat de y-as niet bij 0 begint. Om dezelfde reden krijgt de hartslaggrafiek nooit een tweede y-as.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F06A73-F075-48B4-A795-E13290920A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Vervang px.scatter door px.histogram, px.box of px.line en de argumenten blijven dezelfde. Data in de lange vorm (labo 4) is precies wat deze functies verwachten. Oefeningen 1 (histogram), 2 (boxplot met facetten) en 3 (lijngrafiek van de snelheid).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3AE4A0-1604-4B67-AFF7-52E2EB5E5C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Dit is de reactiviteit uit het eerste labo, toegepast op grafieken. De hartslaggrafiek met zonebanden (add_hrect) is de andere grote demo van dit deel.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3E5AD1-0C4C-4C4C-9664-8B71FC888C6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Het minidashboard mag alles uit het notebook hergebruiken: het doel is combineren, niet nieuwe grafiektypes. Het kan dienen als inzending voor deze module.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D49565-8859-44FE-9355-F2CFF9652C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Sluit af met het exit ticket van labo 3 als model: één techniek om te onthouden, één ding dat nog onduidelijk is.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51265F-D1C4-424C-80E6-60F93B69A8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8A85033-2618-4C1D-8DFD-3DB97EFF877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0DD5F3-4ECD-49A1-A3DD-F12FC9D68FE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120" cy="173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r>
              <a:rPr b="0" lang="en-US" sz="4800" spc="-1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b="0" lang="en-US" sz="4800" spc="-1" strike="noStrike">
                <a:solidFill>
                  <a:schemeClr val="dk1"/>
                </a:solidFill>
                <a:latin typeface="Calibri"/>
              </a:rPr>
              <a:t>title text format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31520" y="3977640"/>
            <a:ext cx="10698120" cy="1188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731520" y="914400"/>
            <a:ext cx="4571640" cy="45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731520" y="1417320"/>
            <a:ext cx="5668920" cy="2011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Cli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ck 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ed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it 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th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tit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le 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te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xt 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fo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r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000" spc="-1" strike="noStrike">
                <a:solidFill>
                  <a:schemeClr val="dk1"/>
                </a:solidFill>
                <a:latin typeface="Calibri"/>
              </a:rPr>
              <a:t>at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731520" y="3657600"/>
            <a:ext cx="5486040" cy="2377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Text 0"/>
          <p:cNvSpPr/>
          <p:nvPr/>
        </p:nvSpPr>
        <p:spPr>
          <a:xfrm>
            <a:off x="548640" y="63550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accent5"/>
                </a:solidFill>
                <a:latin typeface="Calibri"/>
              </a:rPr>
              <a:t>Data Science 1 · labo's 3-5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1"/>
          </p:nvPr>
        </p:nvSpPr>
        <p:spPr>
          <a:xfrm>
            <a:off x="1115568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5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190384-2308-46D7-9B4D-386EE2A9943F}" type="slidenum">
              <a:rPr b="0" lang="en-US" sz="1100" spc="-1" strike="noStrike">
                <a:solidFill>
                  <a:schemeClr val="accent5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Cli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ck 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edi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th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titl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tex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for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ma</a:t>
            </a:r>
            <a:r>
              <a:rPr b="0" lang="en-US" sz="3400" spc="-1" strike="noStrike">
                <a:solidFill>
                  <a:schemeClr val="dk1"/>
                </a:solidFill>
                <a:latin typeface="Calibri"/>
              </a:rPr>
              <a:t>t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Text 0"/>
          <p:cNvSpPr/>
          <p:nvPr/>
        </p:nvSpPr>
        <p:spPr>
          <a:xfrm>
            <a:off x="548640" y="63550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chemeClr val="accent6"/>
                </a:solidFill>
                <a:latin typeface="Calibri"/>
              </a:rPr>
              <a:t>Data Science 1 · labo's 3-5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2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22D24C-3D76-46FD-97C4-3D6DB5A617A4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120" cy="173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V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a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n 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r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o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m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m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el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ig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e 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e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x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p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o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rt 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to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t 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c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o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a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c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h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d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a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s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h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b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o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a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r</a:t>
            </a:r>
            <a:r>
              <a:rPr b="1" lang="en-US" sz="4800" spc="-1" strike="noStrike">
                <a:solidFill>
                  <a:schemeClr val="lt1"/>
                </a:solidFill>
                <a:latin typeface="Cambria"/>
              </a:rPr>
              <a:t>d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3977640"/>
            <a:ext cx="10698120" cy="118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accent5"/>
                </a:solidFill>
                <a:latin typeface="Calibri"/>
              </a:rPr>
              <a:t>Data Science 1 · labo's 3-5: Dataverwerking </a:t>
            </a:r>
            <a:r>
              <a:rPr b="0" lang="en-US" sz="2000" spc="-1" strike="noStrike">
                <a:solidFill>
                  <a:schemeClr val="accent5"/>
                </a:solidFill>
                <a:latin typeface="Calibri"/>
              </a:rPr>
              <a:t>I &amp; II, Datavisualisatie I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accent5"/>
                </a:solidFill>
                <a:latin typeface="Calibri"/>
              </a:rPr>
              <a:t>dr. Maarten Slembrouck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Jij bent de nieuwe data-analist van de club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file card 1"/>
          <p:cNvSpPr/>
          <p:nvPr/>
        </p:nvSpPr>
        <p:spPr>
          <a:xfrm>
            <a:off x="548640" y="1463040"/>
            <a:ext cx="3474360" cy="374868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athletes.csv circle"/>
          <p:cNvSpPr/>
          <p:nvPr/>
        </p:nvSpPr>
        <p:spPr>
          <a:xfrm>
            <a:off x="86868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" name="athletes.csv icon" descr="athletes.csv"/>
          <p:cNvPicPr/>
          <p:nvPr/>
        </p:nvPicPr>
        <p:blipFill>
          <a:blip r:embed="rId1"/>
          <a:stretch/>
        </p:blipFill>
        <p:spPr>
          <a:xfrm>
            <a:off x="105156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23" name="athletes.csv name"/>
          <p:cNvSpPr/>
          <p:nvPr/>
        </p:nvSpPr>
        <p:spPr>
          <a:xfrm>
            <a:off x="1783080" y="196596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athletes.csv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athletes.csv stat"/>
          <p:cNvSpPr/>
          <p:nvPr/>
        </p:nvSpPr>
        <p:spPr>
          <a:xfrm>
            <a:off x="868680" y="27889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chemeClr val="accent1"/>
                </a:solidFill>
                <a:latin typeface="Calibri"/>
              </a:rPr>
              <a:t>43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athletes.csv unit"/>
          <p:cNvSpPr/>
          <p:nvPr/>
        </p:nvSpPr>
        <p:spPr>
          <a:xfrm>
            <a:off x="868680" y="37033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2"/>
                </a:solidFill>
                <a:latin typeface="Calibri"/>
              </a:rPr>
              <a:t>atleten · 7 kolommen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athletes.csv desc"/>
          <p:cNvSpPr/>
          <p:nvPr/>
        </p:nvSpPr>
        <p:spPr>
          <a:xfrm>
            <a:off x="868680" y="4114800"/>
            <a:ext cx="2880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ID, geboortedatum, geslacht, positie, lengte, gewicht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file card 2"/>
          <p:cNvSpPr/>
          <p:nvPr/>
        </p:nvSpPr>
        <p:spPr>
          <a:xfrm>
            <a:off x="4297680" y="1463040"/>
            <a:ext cx="3474360" cy="374868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sts.csv circle"/>
          <p:cNvSpPr/>
          <p:nvPr/>
        </p:nvSpPr>
        <p:spPr>
          <a:xfrm>
            <a:off x="461772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9" name="tests.csv icon" descr="tests.csv"/>
          <p:cNvPicPr/>
          <p:nvPr/>
        </p:nvPicPr>
        <p:blipFill>
          <a:blip r:embed="rId2"/>
          <a:stretch/>
        </p:blipFill>
        <p:spPr>
          <a:xfrm>
            <a:off x="480060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30" name="tests.csv name"/>
          <p:cNvSpPr/>
          <p:nvPr/>
        </p:nvSpPr>
        <p:spPr>
          <a:xfrm>
            <a:off x="5532120" y="196596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tests.csv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sts.csv stat"/>
          <p:cNvSpPr/>
          <p:nvPr/>
        </p:nvSpPr>
        <p:spPr>
          <a:xfrm>
            <a:off x="4617720" y="27889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chemeClr val="accent1"/>
                </a:solidFill>
                <a:latin typeface="Calibri"/>
              </a:rPr>
              <a:t>114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sts.csv unit"/>
          <p:cNvSpPr/>
          <p:nvPr/>
        </p:nvSpPr>
        <p:spPr>
          <a:xfrm>
            <a:off x="4617720" y="37033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2"/>
                </a:solidFill>
                <a:latin typeface="Calibri"/>
              </a:rPr>
              <a:t>testresultaten · 8 kolommen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sts.csv desc"/>
          <p:cNvSpPr/>
          <p:nvPr/>
        </p:nvSpPr>
        <p:spPr>
          <a:xfrm>
            <a:off x="4617720" y="4114800"/>
            <a:ext cx="2880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Sprint 10 m / 30 m, spronghoogte, Yo-Yo-niveau, 3 testmomenten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file card 3"/>
          <p:cNvSpPr/>
          <p:nvPr/>
        </p:nvSpPr>
        <p:spPr>
          <a:xfrm>
            <a:off x="8046720" y="1463040"/>
            <a:ext cx="3474360" cy="374868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hr_session.csv circle"/>
          <p:cNvSpPr/>
          <p:nvPr/>
        </p:nvSpPr>
        <p:spPr>
          <a:xfrm>
            <a:off x="836676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" name="hr_session.csv icon" descr="hr_session.csv"/>
          <p:cNvPicPr/>
          <p:nvPr/>
        </p:nvPicPr>
        <p:blipFill>
          <a:blip r:embed="rId3"/>
          <a:stretch/>
        </p:blipFill>
        <p:spPr>
          <a:xfrm>
            <a:off x="854964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37" name="hr_session.csv name"/>
          <p:cNvSpPr/>
          <p:nvPr/>
        </p:nvSpPr>
        <p:spPr>
          <a:xfrm>
            <a:off x="9281160" y="196596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hr_session.csv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hr_session.csv stat"/>
          <p:cNvSpPr/>
          <p:nvPr/>
        </p:nvSpPr>
        <p:spPr>
          <a:xfrm>
            <a:off x="8366760" y="27889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chemeClr val="accent1"/>
                </a:solidFill>
                <a:latin typeface="Calibri"/>
              </a:rPr>
              <a:t>12.000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hr_session.csv unit"/>
          <p:cNvSpPr/>
          <p:nvPr/>
        </p:nvSpPr>
        <p:spPr>
          <a:xfrm>
            <a:off x="8366760" y="37033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2"/>
                </a:solidFill>
                <a:latin typeface="Calibri"/>
              </a:rPr>
              <a:t>seconden data · 5 atleten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hr_session.csv desc"/>
          <p:cNvSpPr/>
          <p:nvPr/>
        </p:nvSpPr>
        <p:spPr>
          <a:xfrm>
            <a:off x="8366760" y="4114800"/>
            <a:ext cx="2880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Hartslag en snelheid per seconde tijdens één training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messy note"/>
          <p:cNvSpPr/>
          <p:nvPr/>
        </p:nvSpPr>
        <p:spPr>
          <a:xfrm>
            <a:off x="548640" y="5486400"/>
            <a:ext cx="11063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600" spc="-1" strike="noStrike">
                <a:solidFill>
                  <a:schemeClr val="accent6"/>
                </a:solidFill>
                <a:latin typeface="Calibri"/>
              </a:rPr>
              <a:t>Bewust rommelig: </a:t>
            </a: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inconsistente labels, sprinttijden in milliseconden, ontbrekende waarden, een dubbele atleet en decimale komma's.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6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05F985-33A2-4FAD-911E-0ABE6218BF9E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Drie sessies, één verhaallijn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Labo 3 icon circle"/>
          <p:cNvSpPr/>
          <p:nvPr/>
        </p:nvSpPr>
        <p:spPr>
          <a:xfrm>
            <a:off x="548640" y="1600200"/>
            <a:ext cx="914040" cy="91404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5" name="Labo 3 icon icon" descr="Labo 3 icon"/>
          <p:cNvPicPr/>
          <p:nvPr/>
        </p:nvPicPr>
        <p:blipFill>
          <a:blip r:embed="rId1"/>
          <a:stretch/>
        </p:blipFill>
        <p:spPr>
          <a:xfrm>
            <a:off x="777240" y="18288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46" name="Labo 3 arrow"/>
          <p:cNvSpPr/>
          <p:nvPr/>
        </p:nvSpPr>
        <p:spPr>
          <a:xfrm>
            <a:off x="1645920" y="2057400"/>
            <a:ext cx="2468880" cy="360"/>
          </a:xfrm>
          <a:prstGeom prst="line">
            <a:avLst/>
          </a:prstGeom>
          <a:ln w="19050">
            <a:solidFill>
              <a:srgbClr val="5b6b63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Labo 3 title"/>
          <p:cNvSpPr/>
          <p:nvPr/>
        </p:nvSpPr>
        <p:spPr>
          <a:xfrm>
            <a:off x="548640" y="2743200"/>
            <a:ext cx="3474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Labo 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Calibri"/>
              </a:rPr>
              <a:t>Dataverwerking 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Van bestand tot nette tabel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Labo 3 topics"/>
          <p:cNvSpPr/>
          <p:nvPr/>
        </p:nvSpPr>
        <p:spPr>
          <a:xfrm>
            <a:off x="548640" y="4206240"/>
            <a:ext cx="3291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Inladen · verkennen · filteren · nieuwe kolommen · opkuisen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Labo 4 icon circle"/>
          <p:cNvSpPr/>
          <p:nvPr/>
        </p:nvSpPr>
        <p:spPr>
          <a:xfrm>
            <a:off x="4297680" y="1600200"/>
            <a:ext cx="914040" cy="91404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0" name="Labo 4 icon icon" descr="Labo 4 icon"/>
          <p:cNvPicPr/>
          <p:nvPr/>
        </p:nvPicPr>
        <p:blipFill>
          <a:blip r:embed="rId2"/>
          <a:stretch/>
        </p:blipFill>
        <p:spPr>
          <a:xfrm>
            <a:off x="4526280" y="18288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51" name="Labo 4 arrow"/>
          <p:cNvSpPr/>
          <p:nvPr/>
        </p:nvSpPr>
        <p:spPr>
          <a:xfrm>
            <a:off x="5394960" y="2057400"/>
            <a:ext cx="2468880" cy="360"/>
          </a:xfrm>
          <a:prstGeom prst="line">
            <a:avLst/>
          </a:prstGeom>
          <a:ln w="19050">
            <a:solidFill>
              <a:srgbClr val="5b6b63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Labo 4 title"/>
          <p:cNvSpPr/>
          <p:nvPr/>
        </p:nvSpPr>
        <p:spPr>
          <a:xfrm>
            <a:off x="4297680" y="2743200"/>
            <a:ext cx="3474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Labo 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Calibri"/>
              </a:rPr>
              <a:t>Dataverwerking II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Combineren, samenvatten, herschikken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Labo 4 topics"/>
          <p:cNvSpPr/>
          <p:nvPr/>
        </p:nvSpPr>
        <p:spPr>
          <a:xfrm>
            <a:off x="4297680" y="4206240"/>
            <a:ext cx="3291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groupby · merge · melt / pivot · tijdreeksen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Labo 5 icon circle"/>
          <p:cNvSpPr/>
          <p:nvPr/>
        </p:nvSpPr>
        <p:spPr>
          <a:xfrm>
            <a:off x="8046720" y="1600200"/>
            <a:ext cx="914040" cy="9140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5" name="Labo 5 icon icon" descr="Labo 5 icon"/>
          <p:cNvPicPr/>
          <p:nvPr/>
        </p:nvPicPr>
        <p:blipFill>
          <a:blip r:embed="rId3"/>
          <a:stretch/>
        </p:blipFill>
        <p:spPr>
          <a:xfrm>
            <a:off x="8275320" y="18288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56" name="Labo 5 title"/>
          <p:cNvSpPr/>
          <p:nvPr/>
        </p:nvSpPr>
        <p:spPr>
          <a:xfrm>
            <a:off x="8046720" y="2743200"/>
            <a:ext cx="3474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accent1"/>
                </a:solidFill>
                <a:latin typeface="Calibri"/>
              </a:rPr>
              <a:t>Labo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Calibri"/>
              </a:rPr>
              <a:t>Datavisualisatie 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Vertel het verhaal met plotly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Labo 5 topics"/>
          <p:cNvSpPr/>
          <p:nvPr/>
        </p:nvSpPr>
        <p:spPr>
          <a:xfrm>
            <a:off x="8046720" y="4206240"/>
            <a:ext cx="3291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Grafiekkeuze · plotly express · interactiviteit · dashboard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7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550B16-3E0D-4B67-B56A-32853BCA5E36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Zo werken de labo's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Reactieve notebooks circle"/>
          <p:cNvSpPr/>
          <p:nvPr/>
        </p:nvSpPr>
        <p:spPr>
          <a:xfrm>
            <a:off x="548640" y="1554480"/>
            <a:ext cx="776880" cy="776880"/>
          </a:xfrm>
          <a:prstGeom prst="ellipse">
            <a:avLst/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Reactieve notebooks icon" descr="Reactieve notebooks"/>
          <p:cNvPicPr/>
          <p:nvPr/>
        </p:nvPicPr>
        <p:blipFill>
          <a:blip r:embed="rId1"/>
          <a:stretch/>
        </p:blipFill>
        <p:spPr>
          <a:xfrm>
            <a:off x="743040" y="1748880"/>
            <a:ext cx="388440" cy="388440"/>
          </a:xfrm>
          <a:prstGeom prst="rect">
            <a:avLst/>
          </a:prstGeom>
          <a:ln w="0">
            <a:noFill/>
          </a:ln>
        </p:spPr>
      </p:pic>
      <p:sp>
        <p:nvSpPr>
          <p:cNvPr id="62" name="Reactieve notebooks text"/>
          <p:cNvSpPr/>
          <p:nvPr/>
        </p:nvSpPr>
        <p:spPr>
          <a:xfrm>
            <a:off x="1600200" y="1572840"/>
            <a:ext cx="42973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Reactieve notebooks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Pas je een cel aan, dan draait elke cel die ervan afhangt opnieuw, in volgorde van afhankelijkheid - niet van boven naar onder.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Eén naam per variabele circle"/>
          <p:cNvSpPr/>
          <p:nvPr/>
        </p:nvSpPr>
        <p:spPr>
          <a:xfrm>
            <a:off x="6217920" y="1554480"/>
            <a:ext cx="776880" cy="776880"/>
          </a:xfrm>
          <a:prstGeom prst="ellipse">
            <a:avLst/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Eén naam per variabele icon" descr="Eén naam per variabele"/>
          <p:cNvPicPr/>
          <p:nvPr/>
        </p:nvPicPr>
        <p:blipFill>
          <a:blip r:embed="rId2"/>
          <a:stretch/>
        </p:blipFill>
        <p:spPr>
          <a:xfrm>
            <a:off x="6412320" y="1748880"/>
            <a:ext cx="388440" cy="388440"/>
          </a:xfrm>
          <a:prstGeom prst="rect">
            <a:avLst/>
          </a:prstGeom>
          <a:ln w="0">
            <a:noFill/>
          </a:ln>
        </p:spPr>
      </p:pic>
      <p:sp>
        <p:nvSpPr>
          <p:cNvPr id="65" name="Eén naam per variabele text"/>
          <p:cNvSpPr/>
          <p:nvPr/>
        </p:nvSpPr>
        <p:spPr>
          <a:xfrm>
            <a:off x="7269480" y="1572840"/>
            <a:ext cx="42973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Eén naam per variabele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Twee cellen kunnen niet dezelfde variabele definiëren. Geef elke stap een naam: tests_raw → tests_clean.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Vul de ... in circle"/>
          <p:cNvSpPr/>
          <p:nvPr/>
        </p:nvSpPr>
        <p:spPr>
          <a:xfrm>
            <a:off x="548640" y="3794760"/>
            <a:ext cx="776880" cy="776880"/>
          </a:xfrm>
          <a:prstGeom prst="ellipse">
            <a:avLst/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" name="Vul de ... in icon" descr="Vul de ... in"/>
          <p:cNvPicPr/>
          <p:nvPr/>
        </p:nvPicPr>
        <p:blipFill>
          <a:blip r:embed="rId3"/>
          <a:stretch/>
        </p:blipFill>
        <p:spPr>
          <a:xfrm>
            <a:off x="743040" y="3989160"/>
            <a:ext cx="388440" cy="388440"/>
          </a:xfrm>
          <a:prstGeom prst="rect">
            <a:avLst/>
          </a:prstGeom>
          <a:ln w="0">
            <a:noFill/>
          </a:ln>
        </p:spPr>
      </p:pic>
      <p:sp>
        <p:nvSpPr>
          <p:cNvPr id="68" name="Vul de ... in text"/>
          <p:cNvSpPr/>
          <p:nvPr/>
        </p:nvSpPr>
        <p:spPr>
          <a:xfrm>
            <a:off x="1600200" y="3813120"/>
            <a:ext cx="42973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Vul de ... 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Elke oefening heeft een placeholder .... De verborgen cel eronder kleurt groen als je antwoord juist is.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Overal te gebruiken circle"/>
          <p:cNvSpPr/>
          <p:nvPr/>
        </p:nvSpPr>
        <p:spPr>
          <a:xfrm>
            <a:off x="6217920" y="3794760"/>
            <a:ext cx="776880" cy="776880"/>
          </a:xfrm>
          <a:prstGeom prst="ellipse">
            <a:avLst/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Overal te gebruiken icon" descr="Overal te gebruiken"/>
          <p:cNvPicPr/>
          <p:nvPr/>
        </p:nvPicPr>
        <p:blipFill>
          <a:blip r:embed="rId4"/>
          <a:stretch/>
        </p:blipFill>
        <p:spPr>
          <a:xfrm>
            <a:off x="6412320" y="3989160"/>
            <a:ext cx="388440" cy="388440"/>
          </a:xfrm>
          <a:prstGeom prst="rect">
            <a:avLst/>
          </a:prstGeom>
          <a:ln w="0">
            <a:noFill/>
          </a:ln>
        </p:spPr>
      </p:pic>
      <p:sp>
        <p:nvSpPr>
          <p:cNvPr id="71" name="Overal te gebruiken text"/>
          <p:cNvSpPr/>
          <p:nvPr/>
        </p:nvSpPr>
        <p:spPr>
          <a:xfrm>
            <a:off x="7269480" y="3813120"/>
            <a:ext cx="42973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Overal te gebruiken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Lokaal met marimo, of online op marimo.app: het notebook leest de data dan van GitHub.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ldNum" idx="8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8AA79-DE71-4681-9E3F-75225D6A6FAE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/>
          </p:nvPr>
        </p:nvSpPr>
        <p:spPr>
          <a:xfrm>
            <a:off x="731520" y="914400"/>
            <a:ext cx="45716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5"/>
                </a:solidFill>
                <a:latin typeface="Calibri"/>
              </a:rPr>
              <a:t>LABO 3 · DATAVERWERKING I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title"/>
          </p:nvPr>
        </p:nvSpPr>
        <p:spPr>
          <a:xfrm>
            <a:off x="731520" y="1417320"/>
            <a:ext cx="5668920" cy="20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chemeClr val="lt1"/>
                </a:solidFill>
                <a:latin typeface="Cambria"/>
              </a:rPr>
              <a:t>Van bestand tot nette tabel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731520" y="3657600"/>
            <a:ext cx="5486040" cy="237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Een dataset inladen en een eerste indruk krijgen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Rijen en kolommen selecteren en filteren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Afgeleide kolommen toevoegen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Tekst, getallen, ontbrekende waarden en dubbels opkuisen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lab 3 emblem circle"/>
          <p:cNvSpPr/>
          <p:nvPr/>
        </p:nvSpPr>
        <p:spPr>
          <a:xfrm>
            <a:off x="7863840" y="1737360"/>
            <a:ext cx="3108600" cy="310860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lab 3 emblem icon" descr="lab 3 emblem"/>
          <p:cNvPicPr/>
          <p:nvPr/>
        </p:nvPicPr>
        <p:blipFill>
          <a:blip r:embed="rId1"/>
          <a:stretch/>
        </p:blipFill>
        <p:spPr>
          <a:xfrm>
            <a:off x="8641080" y="2514600"/>
            <a:ext cx="1554120" cy="1554120"/>
          </a:xfrm>
          <a:prstGeom prst="rect">
            <a:avLst/>
          </a:prstGeom>
          <a:ln w="0">
            <a:noFill/>
          </a:ln>
        </p:spPr>
      </p:pic>
      <p:sp>
        <p:nvSpPr>
          <p:cNvPr id="78" name="PlaceHolder 4"/>
          <p:cNvSpPr>
            <a:spLocks noGrp="1"/>
          </p:cNvSpPr>
          <p:nvPr>
            <p:ph type="sldNum" idx="9"/>
          </p:nvPr>
        </p:nvSpPr>
        <p:spPr>
          <a:xfrm>
            <a:off x="1115568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5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B1ACA1-F765-4519-A0F8-216868D8591A}" type="slidenum">
              <a:rPr b="0" lang="en-US" sz="1100" spc="-1" strike="noStrike">
                <a:solidFill>
                  <a:schemeClr val="accent5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Labo 3 in één oogopslag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0" name="lab 3 schedule time 1"/>
          <p:cNvSpPr/>
          <p:nvPr/>
        </p:nvSpPr>
        <p:spPr>
          <a:xfrm>
            <a:off x="548640" y="146304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13:00-13:20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lab 3 schedule bar 1"/>
          <p:cNvSpPr/>
          <p:nvPr/>
        </p:nvSpPr>
        <p:spPr>
          <a:xfrm>
            <a:off x="2103120" y="1463040"/>
            <a:ext cx="44676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lab 3 schedule label 1"/>
          <p:cNvSpPr/>
          <p:nvPr/>
        </p:nvSpPr>
        <p:spPr>
          <a:xfrm>
            <a:off x="2733120" y="1463040"/>
            <a:ext cx="8909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Opwarmer: waarom niet Excel?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lab 3 schedule time 2"/>
          <p:cNvSpPr/>
          <p:nvPr/>
        </p:nvSpPr>
        <p:spPr>
          <a:xfrm>
            <a:off x="548640" y="201168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13:20-14:00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lab 3 schedule bar 2"/>
          <p:cNvSpPr/>
          <p:nvPr/>
        </p:nvSpPr>
        <p:spPr>
          <a:xfrm>
            <a:off x="2550240" y="2011680"/>
            <a:ext cx="8938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lab 3 schedule label 2"/>
          <p:cNvSpPr/>
          <p:nvPr/>
        </p:nvSpPr>
        <p:spPr>
          <a:xfrm>
            <a:off x="3627000" y="2011680"/>
            <a:ext cx="80154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Inladen &amp; verkennen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lab 3 schedule time 3"/>
          <p:cNvSpPr/>
          <p:nvPr/>
        </p:nvSpPr>
        <p:spPr>
          <a:xfrm>
            <a:off x="548640" y="256032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14:00-14:50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lab 3 schedule bar 3"/>
          <p:cNvSpPr/>
          <p:nvPr/>
        </p:nvSpPr>
        <p:spPr>
          <a:xfrm>
            <a:off x="3444120" y="2560320"/>
            <a:ext cx="11170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lab 3 schedule label 3"/>
          <p:cNvSpPr/>
          <p:nvPr/>
        </p:nvSpPr>
        <p:spPr>
          <a:xfrm>
            <a:off x="4744800" y="2560320"/>
            <a:ext cx="6897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Selecteren &amp; filteren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lab 3 schedule time 4"/>
          <p:cNvSpPr/>
          <p:nvPr/>
        </p:nvSpPr>
        <p:spPr>
          <a:xfrm>
            <a:off x="548640" y="310896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14:50-15:05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lab 3 schedule bar 4"/>
          <p:cNvSpPr/>
          <p:nvPr/>
        </p:nvSpPr>
        <p:spPr>
          <a:xfrm>
            <a:off x="4561920" y="3108960"/>
            <a:ext cx="334800" cy="43848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9525">
            <a:solidFill>
              <a:srgbClr val="5b6b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lab 3 schedule label 4"/>
          <p:cNvSpPr/>
          <p:nvPr/>
        </p:nvSpPr>
        <p:spPr>
          <a:xfrm>
            <a:off x="5079960" y="3108960"/>
            <a:ext cx="65628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accent6"/>
                </a:solidFill>
                <a:latin typeface="Calibri"/>
              </a:rPr>
              <a:t>Pauze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lab 3 schedule time 5"/>
          <p:cNvSpPr/>
          <p:nvPr/>
        </p:nvSpPr>
        <p:spPr>
          <a:xfrm>
            <a:off x="548640" y="365760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15:05-15:50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lab 3 schedule bar 5"/>
          <p:cNvSpPr/>
          <p:nvPr/>
        </p:nvSpPr>
        <p:spPr>
          <a:xfrm>
            <a:off x="4897080" y="3657600"/>
            <a:ext cx="10054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lab 3 schedule label 5"/>
          <p:cNvSpPr/>
          <p:nvPr/>
        </p:nvSpPr>
        <p:spPr>
          <a:xfrm>
            <a:off x="6085800" y="3657600"/>
            <a:ext cx="5556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Nieuwe kolommen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lab 3 schedule time 6"/>
          <p:cNvSpPr/>
          <p:nvPr/>
        </p:nvSpPr>
        <p:spPr>
          <a:xfrm>
            <a:off x="548640" y="420624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15:50-17:00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lab 3 schedule bar 6"/>
          <p:cNvSpPr/>
          <p:nvPr/>
        </p:nvSpPr>
        <p:spPr>
          <a:xfrm>
            <a:off x="5902920" y="4206240"/>
            <a:ext cx="156420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lab 3 schedule label 6"/>
          <p:cNvSpPr/>
          <p:nvPr/>
        </p:nvSpPr>
        <p:spPr>
          <a:xfrm>
            <a:off x="7650360" y="4206240"/>
            <a:ext cx="3992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Opkuisen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lab 3 schedule time 7"/>
          <p:cNvSpPr/>
          <p:nvPr/>
        </p:nvSpPr>
        <p:spPr>
          <a:xfrm>
            <a:off x="548640" y="475488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17:00-17:30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lab 3 schedule bar 7"/>
          <p:cNvSpPr/>
          <p:nvPr/>
        </p:nvSpPr>
        <p:spPr>
          <a:xfrm>
            <a:off x="7467480" y="4754880"/>
            <a:ext cx="670320" cy="43848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lab 3 schedule label 7"/>
          <p:cNvSpPr/>
          <p:nvPr/>
        </p:nvSpPr>
        <p:spPr>
          <a:xfrm>
            <a:off x="8321040" y="4754880"/>
            <a:ext cx="33217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Uitdaging: top 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lab 3 schedule note"/>
          <p:cNvSpPr/>
          <p:nvPr/>
        </p:nvSpPr>
        <p:spPr>
          <a:xfrm>
            <a:off x="548640" y="548640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8 oefeningen met automatische controle, een uitdaging en een exit ticket op het einde.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ldNum" idx="10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BEE820-48F5-4C1D-93A1-01130E670A62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Vijf methodes voor een eerste indruk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4" name="method .head()"/>
          <p:cNvSpPr/>
          <p:nvPr/>
        </p:nvSpPr>
        <p:spPr>
          <a:xfrm>
            <a:off x="548640" y="1508760"/>
            <a:ext cx="5394600" cy="71280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method .head() name"/>
          <p:cNvSpPr/>
          <p:nvPr/>
        </p:nvSpPr>
        <p:spPr>
          <a:xfrm>
            <a:off x="777240" y="150876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.head()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method .head() desc"/>
          <p:cNvSpPr/>
          <p:nvPr/>
        </p:nvSpPr>
        <p:spPr>
          <a:xfrm>
            <a:off x="2606040" y="1508760"/>
            <a:ext cx="3200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de eerste rijen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method .shape"/>
          <p:cNvSpPr/>
          <p:nvPr/>
        </p:nvSpPr>
        <p:spPr>
          <a:xfrm>
            <a:off x="548640" y="2377440"/>
            <a:ext cx="5394600" cy="71280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method .shape name"/>
          <p:cNvSpPr/>
          <p:nvPr/>
        </p:nvSpPr>
        <p:spPr>
          <a:xfrm>
            <a:off x="777240" y="237744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.shape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method .shape desc"/>
          <p:cNvSpPr/>
          <p:nvPr/>
        </p:nvSpPr>
        <p:spPr>
          <a:xfrm>
            <a:off x="2606040" y="2377440"/>
            <a:ext cx="3200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(rijen, kolommen)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method .dtypes"/>
          <p:cNvSpPr/>
          <p:nvPr/>
        </p:nvSpPr>
        <p:spPr>
          <a:xfrm>
            <a:off x="548640" y="3246120"/>
            <a:ext cx="5394600" cy="71280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method .dtypes name"/>
          <p:cNvSpPr/>
          <p:nvPr/>
        </p:nvSpPr>
        <p:spPr>
          <a:xfrm>
            <a:off x="777240" y="324612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.dtypes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method .dtypes desc"/>
          <p:cNvSpPr/>
          <p:nvPr/>
        </p:nvSpPr>
        <p:spPr>
          <a:xfrm>
            <a:off x="2606040" y="3246120"/>
            <a:ext cx="3200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het type dat pandas per kolom raadde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method .info()"/>
          <p:cNvSpPr/>
          <p:nvPr/>
        </p:nvSpPr>
        <p:spPr>
          <a:xfrm>
            <a:off x="548640" y="4114800"/>
            <a:ext cx="5394600" cy="71280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method .info() name"/>
          <p:cNvSpPr/>
          <p:nvPr/>
        </p:nvSpPr>
        <p:spPr>
          <a:xfrm>
            <a:off x="777240" y="411480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.info()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method .info() desc"/>
          <p:cNvSpPr/>
          <p:nvPr/>
        </p:nvSpPr>
        <p:spPr>
          <a:xfrm>
            <a:off x="2606040" y="4114800"/>
            <a:ext cx="3200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types, geheugen en aantal niet-lege waarden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method .describe()"/>
          <p:cNvSpPr/>
          <p:nvPr/>
        </p:nvSpPr>
        <p:spPr>
          <a:xfrm>
            <a:off x="548640" y="4983480"/>
            <a:ext cx="5394600" cy="71280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method .describe() name"/>
          <p:cNvSpPr/>
          <p:nvPr/>
        </p:nvSpPr>
        <p:spPr>
          <a:xfrm>
            <a:off x="777240" y="4983480"/>
            <a:ext cx="1828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.describe()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method .describe() desc"/>
          <p:cNvSpPr/>
          <p:nvPr/>
        </p:nvSpPr>
        <p:spPr>
          <a:xfrm>
            <a:off x="2606040" y="4983480"/>
            <a:ext cx="32000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aantal, gemiddelde, spreiding, min / max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loading code background"/>
          <p:cNvSpPr/>
          <p:nvPr/>
        </p:nvSpPr>
        <p:spPr>
          <a:xfrm>
            <a:off x="6309360" y="1508760"/>
            <a:ext cx="5303160" cy="42058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loading code"/>
          <p:cNvSpPr/>
          <p:nvPr/>
        </p:nvSpPr>
        <p:spPr>
          <a:xfrm>
            <a:off x="6583680" y="1691640"/>
            <a:ext cx="475452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import pandas as pd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 = pd.read_csv(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f"{DATA_DIR}/athletes.csv"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athletes_raw.head()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athletes_raw.shape    # (43, 7)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athletes_raw.describe(include="all")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interactieve, sorteerbare tabel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mo.ui.table(athletes_raw, page_size=10)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11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FF07A8-765F-4DD9-B69E-8AD33263FBAA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Filteren brengt het eerste probleem boven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3" name="filtering code background"/>
          <p:cNvSpPr/>
          <p:nvPr/>
        </p:nvSpPr>
        <p:spPr>
          <a:xfrm>
            <a:off x="548640" y="1508760"/>
            <a:ext cx="6583320" cy="42058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filtering code"/>
          <p:cNvSpPr/>
          <p:nvPr/>
        </p:nvSpPr>
        <p:spPr>
          <a:xfrm>
            <a:off x="822960" y="1691640"/>
            <a:ext cx="603468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kolommen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athletes_raw[["name", "position"]]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rijen: een logische voorwaarde in .loc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athletes_raw.loc[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athletes_raw["position"] == "Forward"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]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born = pd.to_datetime(athletes_raw["birthdate"])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younger_than_16 = born &gt; "2010-09-01"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tests_raw.sort_values("sprint_30m_s",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             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ascending=False)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forward stat card"/>
          <p:cNvSpPr/>
          <p:nvPr/>
        </p:nvSpPr>
        <p:spPr>
          <a:xfrm>
            <a:off x="7498080" y="1508760"/>
            <a:ext cx="4114440" cy="420588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forward stat"/>
          <p:cNvSpPr/>
          <p:nvPr/>
        </p:nvSpPr>
        <p:spPr>
          <a:xfrm>
            <a:off x="7772400" y="1783080"/>
            <a:ext cx="3657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chemeClr val="accent1"/>
                </a:solidFill>
                <a:latin typeface="Calibri"/>
              </a:rPr>
              <a:t>2 van 14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forward stat label"/>
          <p:cNvSpPr/>
          <p:nvPr/>
        </p:nvSpPr>
        <p:spPr>
          <a:xfrm>
            <a:off x="7772400" y="2834640"/>
            <a:ext cx="3565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aanvallers hebben exact de schrijfwijze "Forward"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forward stat body"/>
          <p:cNvSpPr/>
          <p:nvPr/>
        </p:nvSpPr>
        <p:spPr>
          <a:xfrm>
            <a:off x="7772400" y="3703320"/>
            <a:ext cx="35658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De anderen staan als "forward", "forward " of "FWD". Filteren op tekst werkt pas als de labels opgekuist zijn.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ldNum" idx="12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9501E2-A164-4ABA-A3B3-3578A0FF26E5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Een nieuwe kolom is gewoon een toewijzing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1" name="new column code background"/>
          <p:cNvSpPr/>
          <p:nvPr/>
        </p:nvSpPr>
        <p:spPr>
          <a:xfrm>
            <a:off x="548640" y="1508760"/>
            <a:ext cx="6949080" cy="42058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new column code"/>
          <p:cNvSpPr/>
          <p:nvPr/>
        </p:nvSpPr>
        <p:spPr>
          <a:xfrm>
            <a:off x="822960" y="1691640"/>
            <a:ext cx="64004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tekst met een komma -&gt; getal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weight = (athletes_raw["weight_kg"]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  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.str.replace(",", ".")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  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.astype(float))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leeftijd op een vaste referentiedatum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REFERENCE_DATE = pd.Timestamp("2026-09-14")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age = (REFERENCE_DATE - born).dt.days // 365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snelheid uit een sprinttijd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speed_kmh = 30 / tests_raw["sprint_30m_s"] * 3.6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df["bmi"] = weight / (df["height_cm"] / 100) ** 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peed warning circle"/>
          <p:cNvSpPr/>
          <p:nvPr/>
        </p:nvSpPr>
        <p:spPr>
          <a:xfrm>
            <a:off x="7909560" y="1600200"/>
            <a:ext cx="776880" cy="7768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4" name="speed warning icon" descr="speed warning"/>
          <p:cNvPicPr/>
          <p:nvPr/>
        </p:nvPicPr>
        <p:blipFill>
          <a:blip r:embed="rId1"/>
          <a:stretch/>
        </p:blipFill>
        <p:spPr>
          <a:xfrm>
            <a:off x="8103960" y="1794600"/>
            <a:ext cx="388440" cy="388440"/>
          </a:xfrm>
          <a:prstGeom prst="rect">
            <a:avLst/>
          </a:prstGeom>
          <a:ln w="0">
            <a:noFill/>
          </a:ln>
        </p:spPr>
      </p:pic>
      <p:sp>
        <p:nvSpPr>
          <p:cNvPr id="135" name="speed warning text"/>
          <p:cNvSpPr/>
          <p:nvPr/>
        </p:nvSpPr>
        <p:spPr>
          <a:xfrm>
            <a:off x="7909560" y="2560320"/>
            <a:ext cx="3657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1"/>
                </a:solidFill>
                <a:latin typeface="Calibri"/>
              </a:rPr>
              <a:t>Meer dan 1000 km/u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is de maximale snelheid die dit oplevert. Een afgeleide kolom is vaak de snelste manier om onmogelijke waarden te vinden.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comma text"/>
          <p:cNvSpPr/>
          <p:nvPr/>
        </p:nvSpPr>
        <p:spPr>
          <a:xfrm>
            <a:off x="7909560" y="4251960"/>
            <a:ext cx="36572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Courier New"/>
                <a:ea typeface="Courier New"/>
              </a:rPr>
              <a:t>"57,5"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  <a:ea typeface="Courier New"/>
              </a:rPr>
              <a:t>Europese export: het gewicht blijft tekst tot de komma een punt wordt.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13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4EBD69-BF79-4ABE-9040-689BB483C7F9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13 labels voor 4 posities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139" name="raw position labels chart"/>
          <p:cNvGraphicFramePr/>
          <p:nvPr/>
        </p:nvGraphicFramePr>
        <p:xfrm>
          <a:off x="548640" y="1371600"/>
          <a:ext cx="6766200" cy="484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40" name="legend Forward"/>
          <p:cNvSpPr/>
          <p:nvPr/>
        </p:nvSpPr>
        <p:spPr>
          <a:xfrm>
            <a:off x="7772400" y="1673280"/>
            <a:ext cx="200880" cy="2008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legend Forward text"/>
          <p:cNvSpPr/>
          <p:nvPr/>
        </p:nvSpPr>
        <p:spPr>
          <a:xfrm>
            <a:off x="8092440" y="16002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Forward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legend Midfielder"/>
          <p:cNvSpPr/>
          <p:nvPr/>
        </p:nvSpPr>
        <p:spPr>
          <a:xfrm>
            <a:off x="7772400" y="2057400"/>
            <a:ext cx="200880" cy="20088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legend Midfielder text"/>
          <p:cNvSpPr/>
          <p:nvPr/>
        </p:nvSpPr>
        <p:spPr>
          <a:xfrm>
            <a:off x="8092440" y="198432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Midfielder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legend Defender"/>
          <p:cNvSpPr/>
          <p:nvPr/>
        </p:nvSpPr>
        <p:spPr>
          <a:xfrm>
            <a:off x="7772400" y="2441520"/>
            <a:ext cx="200880" cy="200880"/>
          </a:xfrm>
          <a:prstGeom prst="ellipse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legend Defender text"/>
          <p:cNvSpPr/>
          <p:nvPr/>
        </p:nvSpPr>
        <p:spPr>
          <a:xfrm>
            <a:off x="8092440" y="236844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Defender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legend Goalkeeper"/>
          <p:cNvSpPr/>
          <p:nvPr/>
        </p:nvSpPr>
        <p:spPr>
          <a:xfrm>
            <a:off x="7772400" y="2825640"/>
            <a:ext cx="200880" cy="200880"/>
          </a:xfrm>
          <a:prstGeom prst="ellipse">
            <a:avLst/>
          </a:prstGeom>
          <a:solidFill>
            <a:srgbClr val="eda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legend Goalkeeper text"/>
          <p:cNvSpPr/>
          <p:nvPr/>
        </p:nvSpPr>
        <p:spPr>
          <a:xfrm>
            <a:off x="8092440" y="27522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Goalkeeper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osition cleaning code background"/>
          <p:cNvSpPr/>
          <p:nvPr/>
        </p:nvSpPr>
        <p:spPr>
          <a:xfrm>
            <a:off x="7772400" y="3291840"/>
            <a:ext cx="3840120" cy="24685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position cleaning code"/>
          <p:cNvSpPr/>
          <p:nvPr/>
        </p:nvSpPr>
        <p:spPr>
          <a:xfrm>
            <a:off x="8046720" y="3474720"/>
            <a:ext cx="32914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(athletes_raw["position"]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.str.strip()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.str.lower()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.map(POSITION_MAP))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fwd -&gt; Forward, gk -&gt; ...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14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9316FB-681A-429F-8588-49516B757132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Een gereedschapskist om op te kuisen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2" name="Ontbrekende waarden card"/>
          <p:cNvSpPr/>
          <p:nvPr/>
        </p:nvSpPr>
        <p:spPr>
          <a:xfrm>
            <a:off x="54864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Ontbrekende waarden circle"/>
          <p:cNvSpPr/>
          <p:nvPr/>
        </p:nvSpPr>
        <p:spPr>
          <a:xfrm>
            <a:off x="82296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4" name="Ontbrekende waarden icon" descr="Ontbrekende waarden"/>
          <p:cNvPicPr/>
          <p:nvPr/>
        </p:nvPicPr>
        <p:blipFill>
          <a:blip r:embed="rId1"/>
          <a:stretch/>
        </p:blipFill>
        <p:spPr>
          <a:xfrm>
            <a:off x="100584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55" name="Ontbrekende waarden title"/>
          <p:cNvSpPr/>
          <p:nvPr/>
        </p:nvSpPr>
        <p:spPr>
          <a:xfrm>
            <a:off x="822960" y="2697480"/>
            <a:ext cx="2102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Ontbrekende waarden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Ontbrekende waarden desc"/>
          <p:cNvSpPr/>
          <p:nvPr/>
        </p:nvSpPr>
        <p:spPr>
          <a:xfrm>
            <a:off x="822960" y="352044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dropna() of fillna()? Beslis per kolom en verantwoord je keuze.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Ontbrekende waarden code"/>
          <p:cNvSpPr/>
          <p:nvPr/>
        </p:nvSpPr>
        <p:spPr>
          <a:xfrm>
            <a:off x="822960" y="484632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chemeClr val="accent1"/>
                </a:solidFill>
                <a:latin typeface="Courier New"/>
                <a:ea typeface="Courier New"/>
              </a:rPr>
              <a:t>isna().sum()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kst card"/>
          <p:cNvSpPr/>
          <p:nvPr/>
        </p:nvSpPr>
        <p:spPr>
          <a:xfrm>
            <a:off x="338328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kst circle"/>
          <p:cNvSpPr/>
          <p:nvPr/>
        </p:nvSpPr>
        <p:spPr>
          <a:xfrm>
            <a:off x="365760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0" name="Tekst icon" descr="Tekst"/>
          <p:cNvPicPr/>
          <p:nvPr/>
        </p:nvPicPr>
        <p:blipFill>
          <a:blip r:embed="rId2"/>
          <a:stretch/>
        </p:blipFill>
        <p:spPr>
          <a:xfrm>
            <a:off x="384048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61" name="Tekst title"/>
          <p:cNvSpPr/>
          <p:nvPr/>
        </p:nvSpPr>
        <p:spPr>
          <a:xfrm>
            <a:off x="3657600" y="2697480"/>
            <a:ext cx="2102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Tekst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kst desc"/>
          <p:cNvSpPr/>
          <p:nvPr/>
        </p:nvSpPr>
        <p:spPr>
          <a:xfrm>
            <a:off x="3657600" y="352044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Spaties weg, alles in kleine letters, dan de afkortingen mappen.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kst code"/>
          <p:cNvSpPr/>
          <p:nvPr/>
        </p:nvSpPr>
        <p:spPr>
          <a:xfrm>
            <a:off x="3657600" y="484632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.str.strip().str.lower()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Eenheden card"/>
          <p:cNvSpPr/>
          <p:nvPr/>
        </p:nvSpPr>
        <p:spPr>
          <a:xfrm>
            <a:off x="621792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Eenheden circle"/>
          <p:cNvSpPr/>
          <p:nvPr/>
        </p:nvSpPr>
        <p:spPr>
          <a:xfrm>
            <a:off x="649224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6" name="Eenheden icon" descr="Eenheden"/>
          <p:cNvPicPr/>
          <p:nvPr/>
        </p:nvPicPr>
        <p:blipFill>
          <a:blip r:embed="rId3"/>
          <a:stretch/>
        </p:blipFill>
        <p:spPr>
          <a:xfrm>
            <a:off x="667512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67" name="Eenheden title"/>
          <p:cNvSpPr/>
          <p:nvPr/>
        </p:nvSpPr>
        <p:spPr>
          <a:xfrm>
            <a:off x="6492240" y="2697480"/>
            <a:ext cx="2102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Eenheden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Eenheden desc"/>
          <p:cNvSpPr/>
          <p:nvPr/>
        </p:nvSpPr>
        <p:spPr>
          <a:xfrm>
            <a:off x="6492240" y="352044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Boven 20 "seconden" zijn het milliseconden: 12 + 17 sprintwaarden.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Eenheden code"/>
          <p:cNvSpPr/>
          <p:nvPr/>
        </p:nvSpPr>
        <p:spPr>
          <a:xfrm>
            <a:off x="6492240" y="484632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chemeClr val="accent1"/>
                </a:solidFill>
                <a:latin typeface="Courier New"/>
                <a:ea typeface="Courier New"/>
              </a:rPr>
              <a:t>.where(s &lt; 20, s / 1000)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Dubbels card"/>
          <p:cNvSpPr/>
          <p:nvPr/>
        </p:nvSpPr>
        <p:spPr>
          <a:xfrm>
            <a:off x="905256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Dubbels circle"/>
          <p:cNvSpPr/>
          <p:nvPr/>
        </p:nvSpPr>
        <p:spPr>
          <a:xfrm>
            <a:off x="9326880" y="1783080"/>
            <a:ext cx="731160" cy="73116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2" name="Dubbels icon" descr="Dubbels"/>
          <p:cNvPicPr/>
          <p:nvPr/>
        </p:nvPicPr>
        <p:blipFill>
          <a:blip r:embed="rId4"/>
          <a:stretch/>
        </p:blipFill>
        <p:spPr>
          <a:xfrm>
            <a:off x="950976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73" name="Dubbels title"/>
          <p:cNvSpPr/>
          <p:nvPr/>
        </p:nvSpPr>
        <p:spPr>
          <a:xfrm>
            <a:off x="9326880" y="2697480"/>
            <a:ext cx="2102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Dubbels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Dubbels desc"/>
          <p:cNvSpPr/>
          <p:nvPr/>
        </p:nvSpPr>
        <p:spPr>
          <a:xfrm>
            <a:off x="9326880" y="352044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Zelfde naam en geboortedatum, twee ID's: hou de eerste rij.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Dubbels code"/>
          <p:cNvSpPr/>
          <p:nvPr/>
        </p:nvSpPr>
        <p:spPr>
          <a:xfrm>
            <a:off x="9326880" y="484632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chemeClr val="accent1"/>
                </a:solidFill>
                <a:latin typeface="Courier New"/>
                <a:ea typeface="Courier New"/>
              </a:rPr>
              <a:t>drop_duplicates(...)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15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57C764C-9BB4-4CAB-A2D7-AA906627463D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Oefeningen labo 3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8" name="lab 3 exercises card 1"/>
          <p:cNvSpPr/>
          <p:nvPr/>
        </p:nvSpPr>
        <p:spPr>
          <a:xfrm>
            <a:off x="548640" y="14630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lab 3 exercises number 1"/>
          <p:cNvSpPr/>
          <p:nvPr/>
        </p:nvSpPr>
        <p:spPr>
          <a:xfrm>
            <a:off x="777240" y="18518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lab 3 exercises number text 1"/>
          <p:cNvSpPr/>
          <p:nvPr/>
        </p:nvSpPr>
        <p:spPr>
          <a:xfrm>
            <a:off x="777240" y="18518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lab 3 exercises text 1"/>
          <p:cNvSpPr/>
          <p:nvPr/>
        </p:nvSpPr>
        <p:spPr>
          <a:xfrm>
            <a:off x="1508760" y="16002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tests.csv inladen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read_csv en .shape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lab 3 exercises card 2"/>
          <p:cNvSpPr/>
          <p:nvPr/>
        </p:nvSpPr>
        <p:spPr>
          <a:xfrm>
            <a:off x="4338360" y="14630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lab 3 exercises number 2"/>
          <p:cNvSpPr/>
          <p:nvPr/>
        </p:nvSpPr>
        <p:spPr>
          <a:xfrm>
            <a:off x="4566960" y="18518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lab 3 exercises number text 2"/>
          <p:cNvSpPr/>
          <p:nvPr/>
        </p:nvSpPr>
        <p:spPr>
          <a:xfrm>
            <a:off x="4566960" y="18518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lab 3 exercises text 2"/>
          <p:cNvSpPr/>
          <p:nvPr/>
        </p:nvSpPr>
        <p:spPr>
          <a:xfrm>
            <a:off x="5298480" y="16002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Aanvallers onder 16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twee voorwaarden combineren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lab 3 exercises card 3"/>
          <p:cNvSpPr/>
          <p:nvPr/>
        </p:nvSpPr>
        <p:spPr>
          <a:xfrm>
            <a:off x="8127720" y="14630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lab 3 exercises number 3"/>
          <p:cNvSpPr/>
          <p:nvPr/>
        </p:nvSpPr>
        <p:spPr>
          <a:xfrm>
            <a:off x="8356320" y="18518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lab 3 exercises number text 3"/>
          <p:cNvSpPr/>
          <p:nvPr/>
        </p:nvSpPr>
        <p:spPr>
          <a:xfrm>
            <a:off x="8356320" y="18518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lab 3 exercises text 3"/>
          <p:cNvSpPr/>
          <p:nvPr/>
        </p:nvSpPr>
        <p:spPr>
          <a:xfrm>
            <a:off x="9087840" y="16002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Verdachte sprints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filteren op &gt; 20 en sorteren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lab 3 exercises card 4"/>
          <p:cNvSpPr/>
          <p:nvPr/>
        </p:nvSpPr>
        <p:spPr>
          <a:xfrm>
            <a:off x="548640" y="30632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lab 3 exercises number 4"/>
          <p:cNvSpPr/>
          <p:nvPr/>
        </p:nvSpPr>
        <p:spPr>
          <a:xfrm>
            <a:off x="777240" y="34520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lab 3 exercises number text 4"/>
          <p:cNvSpPr/>
          <p:nvPr/>
        </p:nvSpPr>
        <p:spPr>
          <a:xfrm>
            <a:off x="777240" y="34520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lab 3 exercises text 4"/>
          <p:cNvSpPr/>
          <p:nvPr/>
        </p:nvSpPr>
        <p:spPr>
          <a:xfrm>
            <a:off x="1508760" y="32004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BMI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een nieuwe kolom uit twee andere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lab 3 exercises card 5"/>
          <p:cNvSpPr/>
          <p:nvPr/>
        </p:nvSpPr>
        <p:spPr>
          <a:xfrm>
            <a:off x="4338360" y="30632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lab 3 exercises number 5"/>
          <p:cNvSpPr/>
          <p:nvPr/>
        </p:nvSpPr>
        <p:spPr>
          <a:xfrm>
            <a:off x="4566960" y="34520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lab 3 exercises number text 5"/>
          <p:cNvSpPr/>
          <p:nvPr/>
        </p:nvSpPr>
        <p:spPr>
          <a:xfrm>
            <a:off x="4566960" y="34520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lab 3 exercises text 5"/>
          <p:cNvSpPr/>
          <p:nvPr/>
        </p:nvSpPr>
        <p:spPr>
          <a:xfrm>
            <a:off x="5298480" y="32004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Leeftijd in jaren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datums en tijdsverschillen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lab 3 exercises card 6"/>
          <p:cNvSpPr/>
          <p:nvPr/>
        </p:nvSpPr>
        <p:spPr>
          <a:xfrm>
            <a:off x="8127720" y="30632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lab 3 exercises number 6"/>
          <p:cNvSpPr/>
          <p:nvPr/>
        </p:nvSpPr>
        <p:spPr>
          <a:xfrm>
            <a:off x="8356320" y="34520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lab 3 exercises number text 6"/>
          <p:cNvSpPr/>
          <p:nvPr/>
        </p:nvSpPr>
        <p:spPr>
          <a:xfrm>
            <a:off x="8356320" y="34520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lab 3 exercises text 6"/>
          <p:cNvSpPr/>
          <p:nvPr/>
        </p:nvSpPr>
        <p:spPr>
          <a:xfrm>
            <a:off x="9087840" y="32004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Posities opkuisen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een kolom vervangen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lab 3 exercises card 7"/>
          <p:cNvSpPr/>
          <p:nvPr/>
        </p:nvSpPr>
        <p:spPr>
          <a:xfrm>
            <a:off x="548640" y="46634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lab 3 exercises number 7"/>
          <p:cNvSpPr/>
          <p:nvPr/>
        </p:nvSpPr>
        <p:spPr>
          <a:xfrm>
            <a:off x="777240" y="50522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lab 3 exercises number text 7"/>
          <p:cNvSpPr/>
          <p:nvPr/>
        </p:nvSpPr>
        <p:spPr>
          <a:xfrm>
            <a:off x="777240" y="5052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lab 3 exercises text 7"/>
          <p:cNvSpPr/>
          <p:nvPr/>
        </p:nvSpPr>
        <p:spPr>
          <a:xfrm>
            <a:off x="1508760" y="48006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Eenheden sprint corrigeren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een hulpfunctie toepassen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lab 3 exercises card 8"/>
          <p:cNvSpPr/>
          <p:nvPr/>
        </p:nvSpPr>
        <p:spPr>
          <a:xfrm>
            <a:off x="4338360" y="46634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lab 3 exercises number 8"/>
          <p:cNvSpPr/>
          <p:nvPr/>
        </p:nvSpPr>
        <p:spPr>
          <a:xfrm>
            <a:off x="4566960" y="50522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lab 3 exercises number text 8"/>
          <p:cNvSpPr/>
          <p:nvPr/>
        </p:nvSpPr>
        <p:spPr>
          <a:xfrm>
            <a:off x="4566960" y="5052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lab 3 exercises text 8"/>
          <p:cNvSpPr/>
          <p:nvPr/>
        </p:nvSpPr>
        <p:spPr>
          <a:xfrm>
            <a:off x="5298480" y="48006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De dubbels verwijderen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drop_duplicates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lab 3 exercises card 9"/>
          <p:cNvSpPr/>
          <p:nvPr/>
        </p:nvSpPr>
        <p:spPr>
          <a:xfrm>
            <a:off x="8127720" y="4663440"/>
            <a:ext cx="3515040" cy="132552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lab 3 exercises number 9"/>
          <p:cNvSpPr/>
          <p:nvPr/>
        </p:nvSpPr>
        <p:spPr>
          <a:xfrm>
            <a:off x="8356320" y="5052240"/>
            <a:ext cx="548280" cy="5482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lab 3 exercises number text 9"/>
          <p:cNvSpPr/>
          <p:nvPr/>
        </p:nvSpPr>
        <p:spPr>
          <a:xfrm>
            <a:off x="8356320" y="5052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lab 3 exercises text 9"/>
          <p:cNvSpPr/>
          <p:nvPr/>
        </p:nvSpPr>
        <p:spPr>
          <a:xfrm>
            <a:off x="9087840" y="4800600"/>
            <a:ext cx="23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Uitdaging: top 5 per positie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merge, beste sprint, sorteren, groupby().head(5)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16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F1F2C6-BD8F-4ECE-A943-E474FCCD2C22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731520" y="914400"/>
            <a:ext cx="45716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5"/>
                </a:solidFill>
                <a:latin typeface="Calibri"/>
              </a:rPr>
              <a:t>LABO 4 · DATAVERWERKING II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title"/>
          </p:nvPr>
        </p:nvSpPr>
        <p:spPr>
          <a:xfrm>
            <a:off x="731520" y="1417320"/>
            <a:ext cx="5668920" cy="20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chemeClr val="lt1"/>
                </a:solidFill>
                <a:latin typeface="Cambria"/>
              </a:rPr>
              <a:t>Combineren, samenvatten, herschikken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731520" y="3657600"/>
            <a:ext cx="5486040" cy="237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Aggregeren met groupby en agg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Tabellen koppelen met merge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Herschikken met melt en pivot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Tijdreekskenmerken berekenen: zones, voortschrijdend gemiddelde, hersampling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8" name="lab 4 emblem circle"/>
          <p:cNvSpPr/>
          <p:nvPr/>
        </p:nvSpPr>
        <p:spPr>
          <a:xfrm>
            <a:off x="7863840" y="1737360"/>
            <a:ext cx="3108600" cy="310860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9" name="lab 4 emblem icon" descr="lab 4 emblem"/>
          <p:cNvPicPr/>
          <p:nvPr/>
        </p:nvPicPr>
        <p:blipFill>
          <a:blip r:embed="rId1"/>
          <a:stretch/>
        </p:blipFill>
        <p:spPr>
          <a:xfrm>
            <a:off x="8641080" y="2514600"/>
            <a:ext cx="1554120" cy="1554120"/>
          </a:xfrm>
          <a:prstGeom prst="rect">
            <a:avLst/>
          </a:prstGeom>
          <a:ln w="0">
            <a:noFill/>
          </a:ln>
        </p:spPr>
      </p:pic>
      <p:sp>
        <p:nvSpPr>
          <p:cNvPr id="220" name="PlaceHolder 4"/>
          <p:cNvSpPr>
            <a:spLocks noGrp="1"/>
          </p:cNvSpPr>
          <p:nvPr>
            <p:ph type="sldNum" idx="17"/>
          </p:nvPr>
        </p:nvSpPr>
        <p:spPr>
          <a:xfrm>
            <a:off x="1115568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5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F8EA8C-250A-422B-90CF-3150904FC96C}" type="slidenum">
              <a:rPr b="0" lang="en-US" sz="1100" spc="-1" strike="noStrike">
                <a:solidFill>
                  <a:schemeClr val="accent5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Labo 4 in één oogopslag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2" name="lab 4 schedule time 1"/>
          <p:cNvSpPr/>
          <p:nvPr/>
        </p:nvSpPr>
        <p:spPr>
          <a:xfrm>
            <a:off x="548640" y="146304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13:00-13:15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lab 4 schedule bar 1"/>
          <p:cNvSpPr/>
          <p:nvPr/>
        </p:nvSpPr>
        <p:spPr>
          <a:xfrm>
            <a:off x="2103120" y="1463040"/>
            <a:ext cx="334800" cy="43848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lab 4 schedule label 1"/>
          <p:cNvSpPr/>
          <p:nvPr/>
        </p:nvSpPr>
        <p:spPr>
          <a:xfrm>
            <a:off x="2621160" y="1463040"/>
            <a:ext cx="902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Herhaling: herstellen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lab 4 schedule time 2"/>
          <p:cNvSpPr/>
          <p:nvPr/>
        </p:nvSpPr>
        <p:spPr>
          <a:xfrm>
            <a:off x="548640" y="201168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13:15-14:10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lab 4 schedule bar 2"/>
          <p:cNvSpPr/>
          <p:nvPr/>
        </p:nvSpPr>
        <p:spPr>
          <a:xfrm>
            <a:off x="2438280" y="2011680"/>
            <a:ext cx="122904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lab 4 schedule label 2"/>
          <p:cNvSpPr/>
          <p:nvPr/>
        </p:nvSpPr>
        <p:spPr>
          <a:xfrm>
            <a:off x="3850560" y="2011680"/>
            <a:ext cx="77922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groupby + agg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lab 4 schedule time 3"/>
          <p:cNvSpPr/>
          <p:nvPr/>
        </p:nvSpPr>
        <p:spPr>
          <a:xfrm>
            <a:off x="548640" y="256032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14:10-14:55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lab 4 schedule bar 3"/>
          <p:cNvSpPr/>
          <p:nvPr/>
        </p:nvSpPr>
        <p:spPr>
          <a:xfrm>
            <a:off x="3667680" y="2560320"/>
            <a:ext cx="10054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lab 4 schedule label 3"/>
          <p:cNvSpPr/>
          <p:nvPr/>
        </p:nvSpPr>
        <p:spPr>
          <a:xfrm>
            <a:off x="4856400" y="2560320"/>
            <a:ext cx="6786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merge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lab 4 schedule time 4"/>
          <p:cNvSpPr/>
          <p:nvPr/>
        </p:nvSpPr>
        <p:spPr>
          <a:xfrm>
            <a:off x="548640" y="310896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14:55-15:10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lab 4 schedule bar 4"/>
          <p:cNvSpPr/>
          <p:nvPr/>
        </p:nvSpPr>
        <p:spPr>
          <a:xfrm>
            <a:off x="4673520" y="3108960"/>
            <a:ext cx="334800" cy="43848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9525">
            <a:solidFill>
              <a:srgbClr val="5b6b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lab 4 schedule label 4"/>
          <p:cNvSpPr/>
          <p:nvPr/>
        </p:nvSpPr>
        <p:spPr>
          <a:xfrm>
            <a:off x="5191920" y="3108960"/>
            <a:ext cx="64508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accent6"/>
                </a:solidFill>
                <a:latin typeface="Calibri"/>
              </a:rPr>
              <a:t>Pauze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lab 4 schedule time 5"/>
          <p:cNvSpPr/>
          <p:nvPr/>
        </p:nvSpPr>
        <p:spPr>
          <a:xfrm>
            <a:off x="548640" y="365760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15:10-15:50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lab 4 schedule bar 5"/>
          <p:cNvSpPr/>
          <p:nvPr/>
        </p:nvSpPr>
        <p:spPr>
          <a:xfrm>
            <a:off x="5009040" y="3657600"/>
            <a:ext cx="8938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lab 4 schedule label 5"/>
          <p:cNvSpPr/>
          <p:nvPr/>
        </p:nvSpPr>
        <p:spPr>
          <a:xfrm>
            <a:off x="6085800" y="3657600"/>
            <a:ext cx="5556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melt &amp; pivot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lab 4 schedule time 6"/>
          <p:cNvSpPr/>
          <p:nvPr/>
        </p:nvSpPr>
        <p:spPr>
          <a:xfrm>
            <a:off x="548640" y="420624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15:50-16:50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lab 4 schedule bar 6"/>
          <p:cNvSpPr/>
          <p:nvPr/>
        </p:nvSpPr>
        <p:spPr>
          <a:xfrm>
            <a:off x="5902920" y="4206240"/>
            <a:ext cx="134064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lab 4 schedule label 6"/>
          <p:cNvSpPr/>
          <p:nvPr/>
        </p:nvSpPr>
        <p:spPr>
          <a:xfrm>
            <a:off x="7426800" y="4206240"/>
            <a:ext cx="421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Tijdreeksen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lab 4 schedule time 7"/>
          <p:cNvSpPr/>
          <p:nvPr/>
        </p:nvSpPr>
        <p:spPr>
          <a:xfrm>
            <a:off x="548640" y="475488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16:50-17:30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lab 4 schedule bar 7"/>
          <p:cNvSpPr/>
          <p:nvPr/>
        </p:nvSpPr>
        <p:spPr>
          <a:xfrm>
            <a:off x="7243920" y="4754880"/>
            <a:ext cx="893880" cy="43848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lab 4 schedule label 7"/>
          <p:cNvSpPr/>
          <p:nvPr/>
        </p:nvSpPr>
        <p:spPr>
          <a:xfrm>
            <a:off x="8321040" y="4754880"/>
            <a:ext cx="33217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Minicase per twee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lab 4 schedule note"/>
          <p:cNvSpPr/>
          <p:nvPr/>
        </p:nvSpPr>
        <p:spPr>
          <a:xfrm>
            <a:off x="548640" y="548640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Start bewust met een kapotte cel: de studenten herstellen een tikfout en een ontbrekende omzetting van komma naar punt.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8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47D3D4-E884-447E-95B4-BF7F03280993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groupby: splitsen, toepassen, combineren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6" name="all rows"/>
          <p:cNvSpPr/>
          <p:nvPr/>
        </p:nvSpPr>
        <p:spPr>
          <a:xfrm>
            <a:off x="548640" y="1737360"/>
            <a:ext cx="1462680" cy="35658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all rows label"/>
          <p:cNvSpPr/>
          <p:nvPr/>
        </p:nvSpPr>
        <p:spPr>
          <a:xfrm>
            <a:off x="548640" y="3246120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dk2"/>
                </a:solidFill>
                <a:latin typeface="Calibri"/>
              </a:rPr>
              <a:t>alle 43 atleten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plit line Forward"/>
          <p:cNvSpPr/>
          <p:nvPr/>
        </p:nvSpPr>
        <p:spPr>
          <a:xfrm flipV="1">
            <a:off x="2103120" y="2103120"/>
            <a:ext cx="685800" cy="1417320"/>
          </a:xfrm>
          <a:prstGeom prst="line">
            <a:avLst/>
          </a:prstGeom>
          <a:ln w="12700">
            <a:solidFill>
              <a:srgbClr val="5b6b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group Forward"/>
          <p:cNvSpPr/>
          <p:nvPr/>
        </p:nvSpPr>
        <p:spPr>
          <a:xfrm>
            <a:off x="2834640" y="1737360"/>
            <a:ext cx="1554120" cy="73116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group Forward label"/>
          <p:cNvSpPr/>
          <p:nvPr/>
        </p:nvSpPr>
        <p:spPr>
          <a:xfrm>
            <a:off x="2834640" y="1737360"/>
            <a:ext cx="1554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</a:rPr>
              <a:t>Forward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apply arrow Forward"/>
          <p:cNvSpPr/>
          <p:nvPr/>
        </p:nvSpPr>
        <p:spPr>
          <a:xfrm>
            <a:off x="4480560" y="2103120"/>
            <a:ext cx="411480" cy="360"/>
          </a:xfrm>
          <a:prstGeom prst="line">
            <a:avLst/>
          </a:prstGeom>
          <a:ln w="12700">
            <a:solidFill>
              <a:srgbClr val="5b6b6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apply Forward"/>
          <p:cNvSpPr/>
          <p:nvPr/>
        </p:nvSpPr>
        <p:spPr>
          <a:xfrm>
            <a:off x="5029200" y="1737360"/>
            <a:ext cx="1051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accent6"/>
                </a:solidFill>
                <a:latin typeface="Calibri"/>
              </a:rPr>
              <a:t>gemiddelde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plit line Midfielder"/>
          <p:cNvSpPr/>
          <p:nvPr/>
        </p:nvSpPr>
        <p:spPr>
          <a:xfrm flipV="1">
            <a:off x="2103120" y="3017520"/>
            <a:ext cx="685800" cy="502920"/>
          </a:xfrm>
          <a:prstGeom prst="line">
            <a:avLst/>
          </a:prstGeom>
          <a:ln w="12700">
            <a:solidFill>
              <a:srgbClr val="5b6b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group Midfielder"/>
          <p:cNvSpPr/>
          <p:nvPr/>
        </p:nvSpPr>
        <p:spPr>
          <a:xfrm>
            <a:off x="2834640" y="2651760"/>
            <a:ext cx="1554120" cy="73116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group Midfielder label"/>
          <p:cNvSpPr/>
          <p:nvPr/>
        </p:nvSpPr>
        <p:spPr>
          <a:xfrm>
            <a:off x="2834640" y="2651760"/>
            <a:ext cx="1554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</a:rPr>
              <a:t>Midfielder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apply arrow Midfielder"/>
          <p:cNvSpPr/>
          <p:nvPr/>
        </p:nvSpPr>
        <p:spPr>
          <a:xfrm>
            <a:off x="4480560" y="3017520"/>
            <a:ext cx="411480" cy="360"/>
          </a:xfrm>
          <a:prstGeom prst="line">
            <a:avLst/>
          </a:prstGeom>
          <a:ln w="12700">
            <a:solidFill>
              <a:srgbClr val="5b6b6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apply Midfielder"/>
          <p:cNvSpPr/>
          <p:nvPr/>
        </p:nvSpPr>
        <p:spPr>
          <a:xfrm>
            <a:off x="5029200" y="2651760"/>
            <a:ext cx="1051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accent6"/>
                </a:solidFill>
                <a:latin typeface="Calibri"/>
              </a:rPr>
              <a:t>gemiddelde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plit line Defender"/>
          <p:cNvSpPr/>
          <p:nvPr/>
        </p:nvSpPr>
        <p:spPr>
          <a:xfrm>
            <a:off x="2103120" y="3520440"/>
            <a:ext cx="685800" cy="411480"/>
          </a:xfrm>
          <a:prstGeom prst="line">
            <a:avLst/>
          </a:prstGeom>
          <a:ln w="12700">
            <a:solidFill>
              <a:srgbClr val="5b6b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group Defender"/>
          <p:cNvSpPr/>
          <p:nvPr/>
        </p:nvSpPr>
        <p:spPr>
          <a:xfrm>
            <a:off x="2834640" y="3566160"/>
            <a:ext cx="1554120" cy="731160"/>
          </a:xfrm>
          <a:prstGeom prst="roundRect">
            <a:avLst>
              <a:gd name="adj" fmla="val 10000"/>
            </a:avLst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group Defender label"/>
          <p:cNvSpPr/>
          <p:nvPr/>
        </p:nvSpPr>
        <p:spPr>
          <a:xfrm>
            <a:off x="2834640" y="3566160"/>
            <a:ext cx="1554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</a:rPr>
              <a:t>Defender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apply arrow Defender"/>
          <p:cNvSpPr/>
          <p:nvPr/>
        </p:nvSpPr>
        <p:spPr>
          <a:xfrm>
            <a:off x="4480560" y="3931920"/>
            <a:ext cx="411480" cy="360"/>
          </a:xfrm>
          <a:prstGeom prst="line">
            <a:avLst/>
          </a:prstGeom>
          <a:ln w="12700">
            <a:solidFill>
              <a:srgbClr val="5b6b6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apply Defender"/>
          <p:cNvSpPr/>
          <p:nvPr/>
        </p:nvSpPr>
        <p:spPr>
          <a:xfrm>
            <a:off x="5029200" y="3566160"/>
            <a:ext cx="1051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accent6"/>
                </a:solidFill>
                <a:latin typeface="Calibri"/>
              </a:rPr>
              <a:t>gemiddelde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plit line Goalkeeper"/>
          <p:cNvSpPr/>
          <p:nvPr/>
        </p:nvSpPr>
        <p:spPr>
          <a:xfrm>
            <a:off x="2103120" y="3520440"/>
            <a:ext cx="685800" cy="1325880"/>
          </a:xfrm>
          <a:prstGeom prst="line">
            <a:avLst/>
          </a:prstGeom>
          <a:ln w="12700">
            <a:solidFill>
              <a:srgbClr val="5b6b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roup Goalkeeper"/>
          <p:cNvSpPr/>
          <p:nvPr/>
        </p:nvSpPr>
        <p:spPr>
          <a:xfrm>
            <a:off x="2834640" y="4480560"/>
            <a:ext cx="1554120" cy="731160"/>
          </a:xfrm>
          <a:prstGeom prst="roundRect">
            <a:avLst>
              <a:gd name="adj" fmla="val 10000"/>
            </a:avLst>
          </a:prstGeom>
          <a:solidFill>
            <a:srgbClr val="eda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group Goalkeeper label"/>
          <p:cNvSpPr/>
          <p:nvPr/>
        </p:nvSpPr>
        <p:spPr>
          <a:xfrm>
            <a:off x="2834640" y="4480560"/>
            <a:ext cx="15541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</a:rPr>
              <a:t>Goalkeeper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apply arrow Goalkeeper"/>
          <p:cNvSpPr/>
          <p:nvPr/>
        </p:nvSpPr>
        <p:spPr>
          <a:xfrm>
            <a:off x="4480560" y="4846320"/>
            <a:ext cx="411480" cy="360"/>
          </a:xfrm>
          <a:prstGeom prst="line">
            <a:avLst/>
          </a:prstGeom>
          <a:ln w="12700">
            <a:solidFill>
              <a:srgbClr val="5b6b6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apply Goalkeeper"/>
          <p:cNvSpPr/>
          <p:nvPr/>
        </p:nvSpPr>
        <p:spPr>
          <a:xfrm>
            <a:off x="5029200" y="4480560"/>
            <a:ext cx="1051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accent6"/>
                </a:solidFill>
                <a:latin typeface="Calibri"/>
              </a:rPr>
              <a:t>gemiddelde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groupby code background"/>
          <p:cNvSpPr/>
          <p:nvPr/>
        </p:nvSpPr>
        <p:spPr>
          <a:xfrm>
            <a:off x="6126480" y="1508760"/>
            <a:ext cx="5486040" cy="42058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groupby code"/>
          <p:cNvSpPr/>
          <p:nvPr/>
        </p:nvSpPr>
        <p:spPr>
          <a:xfrm>
            <a:off x="6400800" y="1691640"/>
            <a:ext cx="49374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athletes.groupby("position")["age"].mean()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getallen -&gt; categorieën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age_group = pd.cut(age,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bins=[10, 12, 14, 16, 18],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labels=["U13", "U15", "U17", "U19"])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meerdere benoemde statistieken tegelijk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df.groupby(["position", "age_group"],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   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observed=True).agg(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n_athletes=("athlete_id", "size"),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mean_height_cm=("height_cm", "mean"))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sldNum" idx="19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BA34F9-940C-4305-AE13-AA95C2B98620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merge werkt - en telt toch dubbel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2" name="inner card"/>
          <p:cNvSpPr/>
          <p:nvPr/>
        </p:nvSpPr>
        <p:spPr>
          <a:xfrm>
            <a:off x="548640" y="1508760"/>
            <a:ext cx="5394600" cy="1919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inner text"/>
          <p:cNvSpPr/>
          <p:nvPr/>
        </p:nvSpPr>
        <p:spPr>
          <a:xfrm>
            <a:off x="822960" y="1691640"/>
            <a:ext cx="493740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accent1"/>
                </a:solidFill>
                <a:latin typeface="Courier New"/>
                <a:ea typeface="Courier New"/>
              </a:rPr>
              <a:t>how="inner"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  <a:ea typeface="Courier New"/>
              </a:rPr>
              <a:t>houdt alleen sleutels die in beide tabellen voorkomen.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left card"/>
          <p:cNvSpPr/>
          <p:nvPr/>
        </p:nvSpPr>
        <p:spPr>
          <a:xfrm>
            <a:off x="548640" y="3611880"/>
            <a:ext cx="5394600" cy="21027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left text"/>
          <p:cNvSpPr/>
          <p:nvPr/>
        </p:nvSpPr>
        <p:spPr>
          <a:xfrm>
            <a:off x="822960" y="3794760"/>
            <a:ext cx="49374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accent1"/>
                </a:solidFill>
                <a:latin typeface="Courier New"/>
                <a:ea typeface="Courier New"/>
              </a:rPr>
              <a:t>how="left"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  <a:ea typeface="Courier New"/>
              </a:rPr>
              <a:t>houdt elke rij van de linkertabel; ontbrekende matches worden NaN.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duplicate warning circle"/>
          <p:cNvSpPr/>
          <p:nvPr/>
        </p:nvSpPr>
        <p:spPr>
          <a:xfrm>
            <a:off x="6309360" y="1508760"/>
            <a:ext cx="776880" cy="7768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7" name="duplicate warning icon" descr="duplicate warning"/>
          <p:cNvPicPr/>
          <p:nvPr/>
        </p:nvPicPr>
        <p:blipFill>
          <a:blip r:embed="rId1"/>
          <a:stretch/>
        </p:blipFill>
        <p:spPr>
          <a:xfrm>
            <a:off x="6503760" y="1703160"/>
            <a:ext cx="388440" cy="388440"/>
          </a:xfrm>
          <a:prstGeom prst="rect">
            <a:avLst/>
          </a:prstGeom>
          <a:ln w="0">
            <a:noFill/>
          </a:ln>
        </p:spPr>
      </p:pic>
      <p:sp>
        <p:nvSpPr>
          <p:cNvPr id="278" name="duplicate warning text"/>
          <p:cNvSpPr/>
          <p:nvPr/>
        </p:nvSpPr>
        <p:spPr>
          <a:xfrm>
            <a:off x="7269480" y="1508760"/>
            <a:ext cx="43430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dk2"/>
                </a:solidFill>
                <a:latin typeface="Calibri"/>
              </a:rPr>
              <a:t>Eén atleet, twee ID's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De join kan niet weten dat het dezelfde persoon is. Verwijder dubbels op identiteit (naam + geboortedatum) vóór de merge, niet erna.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merge code background"/>
          <p:cNvSpPr/>
          <p:nvPr/>
        </p:nvSpPr>
        <p:spPr>
          <a:xfrm>
            <a:off x="6309360" y="3611880"/>
            <a:ext cx="5303160" cy="210276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merge code"/>
          <p:cNvSpPr/>
          <p:nvPr/>
        </p:nvSpPr>
        <p:spPr>
          <a:xfrm>
            <a:off x="6583680" y="3794760"/>
            <a:ext cx="47545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combined = (athletes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.drop_duplicates(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subset=["name", "birthdate"])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.merge(tests, on="athlete_id"))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sldNum" idx="20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02963B-D099-470B-AA86-F78FA227BCCC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Lang om te plotten, breed om te vergelijken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283" name="long table"/>
          <p:cNvGraphicFramePr/>
          <p:nvPr/>
        </p:nvGraphicFramePr>
        <p:xfrm>
          <a:off x="548640" y="1737360"/>
          <a:ext cx="3840120" cy="2057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188720"/>
              </a:tblGrid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chemeClr val="lt1"/>
                          </a:solidFill>
                          <a:latin typeface="Courier New"/>
                          <a:ea typeface="Courier New"/>
                        </a:rPr>
                        <a:t>athlete_id</a:t>
                      </a:r>
                      <a:endParaRPr b="0" lang="en-US" sz="13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chemeClr val="lt1"/>
                          </a:solidFill>
                          <a:latin typeface="Courier New"/>
                          <a:ea typeface="Courier New"/>
                        </a:rPr>
                        <a:t>moment</a:t>
                      </a:r>
                      <a:endParaRPr b="0" lang="en-US" sz="13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chemeClr val="lt1"/>
                          </a:solidFill>
                          <a:latin typeface="Courier New"/>
                          <a:ea typeface="Courier New"/>
                        </a:rPr>
                        <a:t>sprint</a:t>
                      </a:r>
                      <a:endParaRPr b="0" lang="en-US" sz="13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A001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5.34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A001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5.32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A002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5.97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A002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5.74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4" name="wide table"/>
          <p:cNvGraphicFramePr/>
          <p:nvPr/>
        </p:nvGraphicFramePr>
        <p:xfrm>
          <a:off x="7772400" y="2148840"/>
          <a:ext cx="3840120" cy="123444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188720"/>
              </a:tblGrid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chemeClr val="lt1"/>
                          </a:solidFill>
                          <a:latin typeface="Courier New"/>
                          <a:ea typeface="Courier New"/>
                        </a:rPr>
                        <a:t>athlete_id</a:t>
                      </a:r>
                      <a:endParaRPr b="0" lang="en-US" sz="13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chemeClr val="lt1"/>
                          </a:solidFill>
                          <a:latin typeface="Courier New"/>
                          <a:ea typeface="Courier New"/>
                        </a:rPr>
                        <a:t>1</a:t>
                      </a:r>
                      <a:endParaRPr b="0" lang="en-US" sz="13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chemeClr val="lt1"/>
                          </a:solidFill>
                          <a:latin typeface="Courier New"/>
                          <a:ea typeface="Courier New"/>
                        </a:rPr>
                        <a:t>2</a:t>
                      </a:r>
                      <a:endParaRPr b="0" lang="en-US" sz="13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A001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5.34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5.32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A002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5.97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chemeClr val="dk1"/>
                          </a:solidFill>
                          <a:latin typeface="Courier New"/>
                          <a:ea typeface="Courier New"/>
                        </a:rPr>
                        <a:t>5.74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8720">
                      <a:solidFill>
                        <a:srgbClr val="ffffff"/>
                      </a:solidFill>
                      <a:prstDash val="solid"/>
                    </a:lnL>
                    <a:lnR w="18720">
                      <a:solidFill>
                        <a:srgbClr val="ffffff"/>
                      </a:solidFill>
                      <a:prstDash val="solid"/>
                    </a:lnR>
                    <a:lnT w="18720">
                      <a:solidFill>
                        <a:srgbClr val="ffffff"/>
                      </a:solidFill>
                      <a:prstDash val="solid"/>
                    </a:lnT>
                    <a:lnB w="18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sp>
        <p:nvSpPr>
          <p:cNvPr id="285" name="long caption"/>
          <p:cNvSpPr/>
          <p:nvPr/>
        </p:nvSpPr>
        <p:spPr>
          <a:xfrm>
            <a:off x="548640" y="393192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accent6"/>
                </a:solidFill>
                <a:latin typeface="Calibri"/>
              </a:rPr>
              <a:t>lang: één rij per atleet per moment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wide caption"/>
          <p:cNvSpPr/>
          <p:nvPr/>
        </p:nvSpPr>
        <p:spPr>
          <a:xfrm>
            <a:off x="7772400" y="352044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chemeClr val="accent6"/>
                </a:solidFill>
                <a:latin typeface="Calibri"/>
              </a:rPr>
              <a:t>breed: één rij per atleet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ivot arrow"/>
          <p:cNvSpPr/>
          <p:nvPr/>
        </p:nvSpPr>
        <p:spPr>
          <a:xfrm>
            <a:off x="4754880" y="2194560"/>
            <a:ext cx="2651760" cy="360"/>
          </a:xfrm>
          <a:prstGeom prst="line">
            <a:avLst/>
          </a:prstGeom>
          <a:ln w="25400">
            <a:solidFill>
              <a:srgbClr val="eb683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ivot label"/>
          <p:cNvSpPr/>
          <p:nvPr/>
        </p:nvSpPr>
        <p:spPr>
          <a:xfrm>
            <a:off x="4754880" y="17830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1"/>
                </a:solidFill>
                <a:latin typeface="Courier New"/>
                <a:ea typeface="Courier New"/>
              </a:rPr>
              <a:t>pivot_table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melt arrow"/>
          <p:cNvSpPr/>
          <p:nvPr/>
        </p:nvSpPr>
        <p:spPr>
          <a:xfrm>
            <a:off x="4754880" y="3108960"/>
            <a:ext cx="2651760" cy="360"/>
          </a:xfrm>
          <a:prstGeom prst="line">
            <a:avLst/>
          </a:prstGeom>
          <a:ln w="25400">
            <a:solidFill>
              <a:srgbClr val="0f3d2e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melt label"/>
          <p:cNvSpPr/>
          <p:nvPr/>
        </p:nvSpPr>
        <p:spPr>
          <a:xfrm>
            <a:off x="4754880" y="31546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dk2"/>
                </a:solidFill>
                <a:latin typeface="Courier New"/>
                <a:ea typeface="Courier New"/>
              </a:rPr>
              <a:t>melt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ivot code background"/>
          <p:cNvSpPr/>
          <p:nvPr/>
        </p:nvSpPr>
        <p:spPr>
          <a:xfrm>
            <a:off x="548640" y="4480560"/>
            <a:ext cx="11063880" cy="1279800"/>
          </a:xfrm>
          <a:prstGeom prst="roundRect">
            <a:avLst>
              <a:gd name="adj" fmla="val 8571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pivot code"/>
          <p:cNvSpPr/>
          <p:nvPr/>
        </p:nvSpPr>
        <p:spPr>
          <a:xfrm>
            <a:off x="822960" y="466344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wide = combined.pivot_table(index="athlete_id", columns="test_moment", values="sprint_30m_s")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progress = wide[2] - wide[1]          # negatief = sneller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ldNum" idx="21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E67688-CC9F-4E13-8034-AA5F0970BD08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Het grootste deel van de training zat in zone 4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295" name="zone minutes chart"/>
          <p:cNvGraphicFramePr/>
          <p:nvPr/>
        </p:nvGraphicFramePr>
        <p:xfrm>
          <a:off x="548640" y="1371600"/>
          <a:ext cx="6949080" cy="480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96" name="zone code background"/>
          <p:cNvSpPr/>
          <p:nvPr/>
        </p:nvSpPr>
        <p:spPr>
          <a:xfrm>
            <a:off x="7863840" y="1508760"/>
            <a:ext cx="3748680" cy="420588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zone code"/>
          <p:cNvSpPr/>
          <p:nvPr/>
        </p:nvSpPr>
        <p:spPr>
          <a:xfrm>
            <a:off x="8138160" y="1691640"/>
            <a:ext cx="32000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hr_max = 220 - age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pct = 100 * hr / hr_max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zone = pd.cut(pct,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bins=[0,60,70,80,90,1000])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accent5"/>
                </a:solidFill>
                <a:latin typeface="Courier New"/>
                <a:ea typeface="Courier New"/>
              </a:rPr>
              <a:t># 1 rij = 1 seconde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(df.groupby(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["athlete_id", "hr_zone"])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  </a:t>
            </a: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.size() / 60)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 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s.rolling("30s").mean()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chemeClr val="lt1"/>
                </a:solidFill>
                <a:latin typeface="Courier New"/>
                <a:ea typeface="Courier New"/>
              </a:rPr>
              <a:t>s.resample("1min").mean()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sldNum" idx="22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6F35AC-5F86-418F-9EEE-5999843B6C13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Oefeningen labo 4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0" name="lab 4 exercises card 1"/>
          <p:cNvSpPr/>
          <p:nvPr/>
        </p:nvSpPr>
        <p:spPr>
          <a:xfrm>
            <a:off x="548640" y="1463040"/>
            <a:ext cx="35150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lab 4 exercises number 1"/>
          <p:cNvSpPr/>
          <p:nvPr/>
        </p:nvSpPr>
        <p:spPr>
          <a:xfrm>
            <a:off x="777240" y="210312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lab 4 exercises number text 1"/>
          <p:cNvSpPr/>
          <p:nvPr/>
        </p:nvSpPr>
        <p:spPr>
          <a:xfrm>
            <a:off x="777240" y="21031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lab 4 exercises text 1"/>
          <p:cNvSpPr/>
          <p:nvPr/>
        </p:nvSpPr>
        <p:spPr>
          <a:xfrm>
            <a:off x="1508760" y="1600200"/>
            <a:ext cx="2372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Herhaling: herstellen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de kapotte opkuiscel repareren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lab 4 exercises card 2"/>
          <p:cNvSpPr/>
          <p:nvPr/>
        </p:nvSpPr>
        <p:spPr>
          <a:xfrm>
            <a:off x="4338360" y="1463040"/>
            <a:ext cx="35150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lab 4 exercises number 2"/>
          <p:cNvSpPr/>
          <p:nvPr/>
        </p:nvSpPr>
        <p:spPr>
          <a:xfrm>
            <a:off x="4566960" y="210312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lab 4 exercises number text 2"/>
          <p:cNvSpPr/>
          <p:nvPr/>
        </p:nvSpPr>
        <p:spPr>
          <a:xfrm>
            <a:off x="4566960" y="21031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lab 4 exercises text 2"/>
          <p:cNvSpPr/>
          <p:nvPr/>
        </p:nvSpPr>
        <p:spPr>
          <a:xfrm>
            <a:off x="5298480" y="1600200"/>
            <a:ext cx="2372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Geslacht × leeftijdscategorie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groupby op twee sleutels + agg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lab 4 exercises card 3"/>
          <p:cNvSpPr/>
          <p:nvPr/>
        </p:nvSpPr>
        <p:spPr>
          <a:xfrm>
            <a:off x="8127720" y="1463040"/>
            <a:ext cx="35150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lab 4 exercises number 3"/>
          <p:cNvSpPr/>
          <p:nvPr/>
        </p:nvSpPr>
        <p:spPr>
          <a:xfrm>
            <a:off x="8356320" y="210312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lab 4 exercises number text 3"/>
          <p:cNvSpPr/>
          <p:nvPr/>
        </p:nvSpPr>
        <p:spPr>
          <a:xfrm>
            <a:off x="8356320" y="21031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lab 4 exercises text 3"/>
          <p:cNvSpPr/>
          <p:nvPr/>
        </p:nvSpPr>
        <p:spPr>
          <a:xfrm>
            <a:off x="9087840" y="1600200"/>
            <a:ext cx="2372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Kost van ontdubbelen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rijen verloren na drop_duplicates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lab 4 exercises card 4"/>
          <p:cNvSpPr/>
          <p:nvPr/>
        </p:nvSpPr>
        <p:spPr>
          <a:xfrm>
            <a:off x="548640" y="3566160"/>
            <a:ext cx="35150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lab 4 exercises number 4"/>
          <p:cNvSpPr/>
          <p:nvPr/>
        </p:nvSpPr>
        <p:spPr>
          <a:xfrm>
            <a:off x="777240" y="42062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lab 4 exercises number text 4"/>
          <p:cNvSpPr/>
          <p:nvPr/>
        </p:nvSpPr>
        <p:spPr>
          <a:xfrm>
            <a:off x="7772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lab 4 exercises text 4"/>
          <p:cNvSpPr/>
          <p:nvPr/>
        </p:nvSpPr>
        <p:spPr>
          <a:xfrm>
            <a:off x="1508760" y="3703320"/>
            <a:ext cx="2372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Vooruitgang sprong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pivot_table, dan aftrekken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lab 4 exercises card 5"/>
          <p:cNvSpPr/>
          <p:nvPr/>
        </p:nvSpPr>
        <p:spPr>
          <a:xfrm>
            <a:off x="4338360" y="3566160"/>
            <a:ext cx="35150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lab 4 exercises number 5"/>
          <p:cNvSpPr/>
          <p:nvPr/>
        </p:nvSpPr>
        <p:spPr>
          <a:xfrm>
            <a:off x="4566960" y="42062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lab 4 exercises number text 5"/>
          <p:cNvSpPr/>
          <p:nvPr/>
        </p:nvSpPr>
        <p:spPr>
          <a:xfrm>
            <a:off x="456696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lab 4 exercises text 5"/>
          <p:cNvSpPr/>
          <p:nvPr/>
        </p:nvSpPr>
        <p:spPr>
          <a:xfrm>
            <a:off x="5298480" y="3703320"/>
            <a:ext cx="2372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Minuten in zone 4-5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filteren, groupby, tellen / 60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lab 4 exercises card 6"/>
          <p:cNvSpPr/>
          <p:nvPr/>
        </p:nvSpPr>
        <p:spPr>
          <a:xfrm>
            <a:off x="8127720" y="3566160"/>
            <a:ext cx="3515040" cy="182844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lab 4 exercises number 6"/>
          <p:cNvSpPr/>
          <p:nvPr/>
        </p:nvSpPr>
        <p:spPr>
          <a:xfrm>
            <a:off x="8356320" y="4206240"/>
            <a:ext cx="548280" cy="5482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lab 4 exercises number text 6"/>
          <p:cNvSpPr/>
          <p:nvPr/>
        </p:nvSpPr>
        <p:spPr>
          <a:xfrm>
            <a:off x="835632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lab 4 exercises text 6"/>
          <p:cNvSpPr/>
          <p:nvPr/>
        </p:nvSpPr>
        <p:spPr>
          <a:xfrm>
            <a:off x="9087840" y="3703320"/>
            <a:ext cx="2372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Minicase: trainingsrapport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per atleet: minuten in zone 4-5, topsnelheid, afstand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 type="sldNum" idx="23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86D764-DB61-47A4-81D4-AC66D5382472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/>
          </p:nvPr>
        </p:nvSpPr>
        <p:spPr>
          <a:xfrm>
            <a:off x="731520" y="914400"/>
            <a:ext cx="45716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5"/>
                </a:solidFill>
                <a:latin typeface="Calibri"/>
              </a:rPr>
              <a:t>LABO 5 · DATAVISUALISATIE I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title"/>
          </p:nvPr>
        </p:nvSpPr>
        <p:spPr>
          <a:xfrm>
            <a:off x="731520" y="1417320"/>
            <a:ext cx="5668920" cy="20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chemeClr val="lt1"/>
                </a:solidFill>
                <a:latin typeface="Cambria"/>
              </a:rPr>
              <a:t>Vertel het verhaal met plotly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/>
          </p:nvPr>
        </p:nvSpPr>
        <p:spPr>
          <a:xfrm>
            <a:off x="731520" y="3657600"/>
            <a:ext cx="5486040" cy="237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Een grafiektype kiezen voor een vraag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De standaardgrafieken van plotly express maken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Dimensies toevoegen met kleur, facetten en grootte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Interactiviteit inbouwen in marimo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8" name="lab 5 emblem circle"/>
          <p:cNvSpPr/>
          <p:nvPr/>
        </p:nvSpPr>
        <p:spPr>
          <a:xfrm>
            <a:off x="7863840" y="1737360"/>
            <a:ext cx="3108600" cy="310860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9" name="lab 5 emblem icon" descr="lab 5 emblem"/>
          <p:cNvPicPr/>
          <p:nvPr/>
        </p:nvPicPr>
        <p:blipFill>
          <a:blip r:embed="rId1"/>
          <a:stretch/>
        </p:blipFill>
        <p:spPr>
          <a:xfrm>
            <a:off x="8641080" y="2514600"/>
            <a:ext cx="1554120" cy="1554120"/>
          </a:xfrm>
          <a:prstGeom prst="rect">
            <a:avLst/>
          </a:prstGeom>
          <a:ln w="0">
            <a:noFill/>
          </a:ln>
        </p:spPr>
      </p:pic>
      <p:sp>
        <p:nvSpPr>
          <p:cNvPr id="330" name="PlaceHolder 4"/>
          <p:cNvSpPr>
            <a:spLocks noGrp="1"/>
          </p:cNvSpPr>
          <p:nvPr>
            <p:ph type="sldNum" idx="24"/>
          </p:nvPr>
        </p:nvSpPr>
        <p:spPr>
          <a:xfrm>
            <a:off x="1115568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5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F81D88-49B9-4FA9-B761-414CA5BEF05A}" type="slidenum">
              <a:rPr b="0" lang="en-US" sz="1100" spc="-1" strike="noStrike">
                <a:solidFill>
                  <a:schemeClr val="accent5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Labo 5 in één oogopslag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2" name="lab 5 schedule time 1"/>
          <p:cNvSpPr/>
          <p:nvPr/>
        </p:nvSpPr>
        <p:spPr>
          <a:xfrm>
            <a:off x="548640" y="146304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13:00-13:30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lab 5 schedule bar 1"/>
          <p:cNvSpPr/>
          <p:nvPr/>
        </p:nvSpPr>
        <p:spPr>
          <a:xfrm>
            <a:off x="2103120" y="1463040"/>
            <a:ext cx="67032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lab 5 schedule label 1"/>
          <p:cNvSpPr/>
          <p:nvPr/>
        </p:nvSpPr>
        <p:spPr>
          <a:xfrm>
            <a:off x="2956680" y="1463040"/>
            <a:ext cx="86860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Principes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lab 5 schedule time 2"/>
          <p:cNvSpPr/>
          <p:nvPr/>
        </p:nvSpPr>
        <p:spPr>
          <a:xfrm>
            <a:off x="548640" y="201168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13:30-14:30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lab 5 schedule bar 2"/>
          <p:cNvSpPr/>
          <p:nvPr/>
        </p:nvSpPr>
        <p:spPr>
          <a:xfrm>
            <a:off x="2773800" y="2011680"/>
            <a:ext cx="134064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lab 5 schedule label 2"/>
          <p:cNvSpPr/>
          <p:nvPr/>
        </p:nvSpPr>
        <p:spPr>
          <a:xfrm>
            <a:off x="4297680" y="2011680"/>
            <a:ext cx="73450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Basis van plotly express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lab 5 schedule time 3"/>
          <p:cNvSpPr/>
          <p:nvPr/>
        </p:nvSpPr>
        <p:spPr>
          <a:xfrm>
            <a:off x="548640" y="256032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14:30-15:15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lab 5 schedule bar 3"/>
          <p:cNvSpPr/>
          <p:nvPr/>
        </p:nvSpPr>
        <p:spPr>
          <a:xfrm>
            <a:off x="4114800" y="2560320"/>
            <a:ext cx="10054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lab 5 schedule label 3"/>
          <p:cNvSpPr/>
          <p:nvPr/>
        </p:nvSpPr>
        <p:spPr>
          <a:xfrm>
            <a:off x="5303520" y="2560320"/>
            <a:ext cx="6339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Kleur, facet, grootte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lab 5 schedule time 4"/>
          <p:cNvSpPr/>
          <p:nvPr/>
        </p:nvSpPr>
        <p:spPr>
          <a:xfrm>
            <a:off x="548640" y="310896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15:15-15:30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lab 5 schedule bar 4"/>
          <p:cNvSpPr/>
          <p:nvPr/>
        </p:nvSpPr>
        <p:spPr>
          <a:xfrm>
            <a:off x="5120640" y="3108960"/>
            <a:ext cx="334800" cy="43848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9525">
            <a:solidFill>
              <a:srgbClr val="5b6b6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lab 5 schedule label 4"/>
          <p:cNvSpPr/>
          <p:nvPr/>
        </p:nvSpPr>
        <p:spPr>
          <a:xfrm>
            <a:off x="5638680" y="3108960"/>
            <a:ext cx="60037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accent6"/>
                </a:solidFill>
                <a:latin typeface="Calibri"/>
              </a:rPr>
              <a:t>Pauze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lab 5 schedule time 5"/>
          <p:cNvSpPr/>
          <p:nvPr/>
        </p:nvSpPr>
        <p:spPr>
          <a:xfrm>
            <a:off x="548640" y="365760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15:30-16:15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lab 5 schedule bar 5"/>
          <p:cNvSpPr/>
          <p:nvPr/>
        </p:nvSpPr>
        <p:spPr>
          <a:xfrm>
            <a:off x="5455800" y="3657600"/>
            <a:ext cx="100548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lab 5 schedule label 5"/>
          <p:cNvSpPr/>
          <p:nvPr/>
        </p:nvSpPr>
        <p:spPr>
          <a:xfrm>
            <a:off x="6644520" y="3657600"/>
            <a:ext cx="49978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Hartslagzones als banden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lab 5 schedule time 6"/>
          <p:cNvSpPr/>
          <p:nvPr/>
        </p:nvSpPr>
        <p:spPr>
          <a:xfrm>
            <a:off x="548640" y="420624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16:15-16:45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lab 5 schedule bar 6"/>
          <p:cNvSpPr/>
          <p:nvPr/>
        </p:nvSpPr>
        <p:spPr>
          <a:xfrm>
            <a:off x="6461640" y="4206240"/>
            <a:ext cx="670320" cy="4384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lab 5 schedule label 6"/>
          <p:cNvSpPr/>
          <p:nvPr/>
        </p:nvSpPr>
        <p:spPr>
          <a:xfrm>
            <a:off x="7315200" y="4206240"/>
            <a:ext cx="43275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Interactiviteit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lab 5 schedule time 7"/>
          <p:cNvSpPr/>
          <p:nvPr/>
        </p:nvSpPr>
        <p:spPr>
          <a:xfrm>
            <a:off x="548640" y="4754880"/>
            <a:ext cx="1371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accent6"/>
                </a:solidFill>
                <a:latin typeface="Calibri"/>
              </a:rPr>
              <a:t>16:45-17:30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lab 5 schedule bar 7"/>
          <p:cNvSpPr/>
          <p:nvPr/>
        </p:nvSpPr>
        <p:spPr>
          <a:xfrm>
            <a:off x="7132320" y="4754880"/>
            <a:ext cx="1005480" cy="43848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lab 5 schedule label 7"/>
          <p:cNvSpPr/>
          <p:nvPr/>
        </p:nvSpPr>
        <p:spPr>
          <a:xfrm>
            <a:off x="8321040" y="4754880"/>
            <a:ext cx="33217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Minidashboard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lab 5 schedule note"/>
          <p:cNvSpPr/>
          <p:nvPr/>
        </p:nvSpPr>
        <p:spPr>
          <a:xfrm>
            <a:off x="548640" y="548640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accent6"/>
                </a:solidFill>
                <a:latin typeface="Calibri"/>
              </a:rPr>
              <a:t>Eén kleur per positie, vooraf vastgelegd en in elke grafiek hergebruikt.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 type="sldNum" idx="25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3008A-00A7-47A1-BC37-A3863D3D786A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Vertrek van de vraag, niet van de grafiek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6" name="Verdeling card"/>
          <p:cNvSpPr/>
          <p:nvPr/>
        </p:nvSpPr>
        <p:spPr>
          <a:xfrm>
            <a:off x="54864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Verdeling circle"/>
          <p:cNvSpPr/>
          <p:nvPr/>
        </p:nvSpPr>
        <p:spPr>
          <a:xfrm>
            <a:off x="822960" y="1783080"/>
            <a:ext cx="731160" cy="73116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58" name="Verdeling icon" descr="Verdeling"/>
          <p:cNvPicPr/>
          <p:nvPr/>
        </p:nvPicPr>
        <p:blipFill>
          <a:blip r:embed="rId1"/>
          <a:stretch/>
        </p:blipFill>
        <p:spPr>
          <a:xfrm>
            <a:off x="100584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359" name="Verdeling title"/>
          <p:cNvSpPr/>
          <p:nvPr/>
        </p:nvSpPr>
        <p:spPr>
          <a:xfrm>
            <a:off x="822960" y="269748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Verdeling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Verdeling question"/>
          <p:cNvSpPr/>
          <p:nvPr/>
        </p:nvSpPr>
        <p:spPr>
          <a:xfrm>
            <a:off x="822960" y="320040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chemeClr val="dk1"/>
                </a:solidFill>
                <a:latin typeface="Calibri"/>
              </a:rPr>
              <a:t>Hoe zijn de sprinttijden gespreid?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Verdeling chart"/>
          <p:cNvSpPr/>
          <p:nvPr/>
        </p:nvSpPr>
        <p:spPr>
          <a:xfrm>
            <a:off x="822960" y="484632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1"/>
                </a:solidFill>
                <a:latin typeface="Calibri"/>
              </a:rPr>
              <a:t>histogram · boxplot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Vergelijking card"/>
          <p:cNvSpPr/>
          <p:nvPr/>
        </p:nvSpPr>
        <p:spPr>
          <a:xfrm>
            <a:off x="338328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Vergelijking circle"/>
          <p:cNvSpPr/>
          <p:nvPr/>
        </p:nvSpPr>
        <p:spPr>
          <a:xfrm>
            <a:off x="3657600" y="1783080"/>
            <a:ext cx="731160" cy="73116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4" name="Vergelijking icon" descr="Vergelijking"/>
          <p:cNvPicPr/>
          <p:nvPr/>
        </p:nvPicPr>
        <p:blipFill>
          <a:blip r:embed="rId2"/>
          <a:stretch/>
        </p:blipFill>
        <p:spPr>
          <a:xfrm>
            <a:off x="384048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365" name="Vergelijking title"/>
          <p:cNvSpPr/>
          <p:nvPr/>
        </p:nvSpPr>
        <p:spPr>
          <a:xfrm>
            <a:off x="3657600" y="269748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Vergelijking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Vergelijking question"/>
          <p:cNvSpPr/>
          <p:nvPr/>
        </p:nvSpPr>
        <p:spPr>
          <a:xfrm>
            <a:off x="3657600" y="320040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chemeClr val="dk1"/>
                </a:solidFill>
                <a:latin typeface="Calibri"/>
              </a:rPr>
              <a:t>Welke positie springt het hoogst?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Vergelijking chart"/>
          <p:cNvSpPr/>
          <p:nvPr/>
        </p:nvSpPr>
        <p:spPr>
          <a:xfrm>
            <a:off x="3657600" y="484632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1"/>
                </a:solidFill>
                <a:latin typeface="Calibri"/>
              </a:rPr>
              <a:t>staaf · boxplot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Verband card"/>
          <p:cNvSpPr/>
          <p:nvPr/>
        </p:nvSpPr>
        <p:spPr>
          <a:xfrm>
            <a:off x="621792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Verband circle"/>
          <p:cNvSpPr/>
          <p:nvPr/>
        </p:nvSpPr>
        <p:spPr>
          <a:xfrm>
            <a:off x="6492240" y="1783080"/>
            <a:ext cx="731160" cy="731160"/>
          </a:xfrm>
          <a:prstGeom prst="ellipse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0" name="Verband icon" descr="Verband"/>
          <p:cNvPicPr/>
          <p:nvPr/>
        </p:nvPicPr>
        <p:blipFill>
          <a:blip r:embed="rId3"/>
          <a:stretch/>
        </p:blipFill>
        <p:spPr>
          <a:xfrm>
            <a:off x="667512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371" name="Verband title"/>
          <p:cNvSpPr/>
          <p:nvPr/>
        </p:nvSpPr>
        <p:spPr>
          <a:xfrm>
            <a:off x="6492240" y="269748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Verband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Verband question"/>
          <p:cNvSpPr/>
          <p:nvPr/>
        </p:nvSpPr>
        <p:spPr>
          <a:xfrm>
            <a:off x="6492240" y="320040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chemeClr val="dk1"/>
                </a:solidFill>
                <a:latin typeface="Calibri"/>
              </a:rPr>
              <a:t>Betekent een snellere sprint een hogere sprong?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Verband chart"/>
          <p:cNvSpPr/>
          <p:nvPr/>
        </p:nvSpPr>
        <p:spPr>
          <a:xfrm>
            <a:off x="6492240" y="484632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1"/>
                </a:solidFill>
                <a:latin typeface="Calibri"/>
              </a:rPr>
              <a:t>spreidingsdiagram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Evolutie card"/>
          <p:cNvSpPr/>
          <p:nvPr/>
        </p:nvSpPr>
        <p:spPr>
          <a:xfrm>
            <a:off x="9052560" y="1508760"/>
            <a:ext cx="2605680" cy="4205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Evolutie circle"/>
          <p:cNvSpPr/>
          <p:nvPr/>
        </p:nvSpPr>
        <p:spPr>
          <a:xfrm>
            <a:off x="9326880" y="1783080"/>
            <a:ext cx="731160" cy="731160"/>
          </a:xfrm>
          <a:prstGeom prst="ellipse">
            <a:avLst/>
          </a:prstGeom>
          <a:solidFill>
            <a:srgbClr val="eda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6" name="Evolutie icon" descr="Evolutie"/>
          <p:cNvPicPr/>
          <p:nvPr/>
        </p:nvPicPr>
        <p:blipFill>
          <a:blip r:embed="rId4"/>
          <a:stretch/>
        </p:blipFill>
        <p:spPr>
          <a:xfrm>
            <a:off x="9509760" y="19659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377" name="Evolutie title"/>
          <p:cNvSpPr/>
          <p:nvPr/>
        </p:nvSpPr>
        <p:spPr>
          <a:xfrm>
            <a:off x="9326880" y="2697480"/>
            <a:ext cx="2102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chemeClr val="dk2"/>
                </a:solidFill>
                <a:latin typeface="Calibri"/>
              </a:rPr>
              <a:t>Evolutie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Evolutie question"/>
          <p:cNvSpPr/>
          <p:nvPr/>
        </p:nvSpPr>
        <p:spPr>
          <a:xfrm>
            <a:off x="9326880" y="320040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chemeClr val="dk1"/>
                </a:solidFill>
                <a:latin typeface="Calibri"/>
              </a:rPr>
              <a:t>Stijgt deze hartslag?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Evolutie chart"/>
          <p:cNvSpPr/>
          <p:nvPr/>
        </p:nvSpPr>
        <p:spPr>
          <a:xfrm>
            <a:off x="9326880" y="484632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chemeClr val="accent1"/>
                </a:solidFill>
                <a:latin typeface="Calibri"/>
              </a:rPr>
              <a:t>lijn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 type="sldNum" idx="26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08A8C5-F407-40D9-8ECD-F714755D4E42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Dezelfde data, twee heel andere verhalen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graphicFrame>
        <p:nvGraphicFramePr>
          <p:cNvPr id="382" name="honest chart"/>
          <p:cNvGraphicFramePr/>
          <p:nvPr/>
        </p:nvGraphicFramePr>
        <p:xfrm>
          <a:off x="548640" y="1371600"/>
          <a:ext cx="5394600" cy="402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83" name="misleading chart"/>
          <p:cNvGraphicFramePr/>
          <p:nvPr/>
        </p:nvGraphicFramePr>
        <p:xfrm>
          <a:off x="6217920" y="1371600"/>
          <a:ext cx="5394600" cy="402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84" name="truncation takeaway"/>
          <p:cNvSpPr/>
          <p:nvPr/>
        </p:nvSpPr>
        <p:spPr>
          <a:xfrm>
            <a:off x="548640" y="5532120"/>
            <a:ext cx="11063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Een verschil van 0,3 s lijkt een kloof </a:t>
            </a: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zodra de y-as niet meer bij nul begint. Staven tonen een grootte met hun lengte, dus hun basislijn moet 0 zijn.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sldNum" idx="27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223601-334C-43D0-AFFB-EA4EBB865585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Elke plotly express-grafiek heeft dezelfde vorm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7" name="plotly code background"/>
          <p:cNvSpPr/>
          <p:nvPr/>
        </p:nvSpPr>
        <p:spPr>
          <a:xfrm>
            <a:off x="548640" y="1508760"/>
            <a:ext cx="6766200" cy="420588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plotly code"/>
          <p:cNvSpPr/>
          <p:nvPr/>
        </p:nvSpPr>
        <p:spPr>
          <a:xfrm>
            <a:off x="822960" y="1691640"/>
            <a:ext cx="621756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px.scatter(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combined,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x="sprint_30m_s",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y="cmj_height_cm",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color="position",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color_discrete_map=POSITION_COLORS,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facet_col="gender",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size="weight_kg",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title="Sprint vs. spronghoogte",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labels={"sprint_30m_s": "Sprint 30 m (s)"},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    </a:t>
            </a: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hover_data=["name"],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ourier New"/>
                <a:ea typeface="Courier New"/>
              </a:rPr>
              <a:t>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dim dot x, y"/>
          <p:cNvSpPr/>
          <p:nvPr/>
        </p:nvSpPr>
        <p:spPr>
          <a:xfrm>
            <a:off x="7680960" y="1664280"/>
            <a:ext cx="328680" cy="328680"/>
          </a:xfrm>
          <a:prstGeom prst="ellipse">
            <a:avLst/>
          </a:prstGeom>
          <a:solidFill>
            <a:srgbClr val="2a78d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dim x, y"/>
          <p:cNvSpPr/>
          <p:nvPr/>
        </p:nvSpPr>
        <p:spPr>
          <a:xfrm>
            <a:off x="8183880" y="1554480"/>
            <a:ext cx="3428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ourier New"/>
                <a:ea typeface="Courier New"/>
              </a:rPr>
              <a:t>x, 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ourier New"/>
              </a:rPr>
              <a:t>positie op de assen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dim dot color"/>
          <p:cNvSpPr/>
          <p:nvPr/>
        </p:nvSpPr>
        <p:spPr>
          <a:xfrm>
            <a:off x="7680960" y="2505600"/>
            <a:ext cx="328680" cy="328680"/>
          </a:xfrm>
          <a:prstGeom prst="ellipse">
            <a:avLst/>
          </a:prstGeom>
          <a:solidFill>
            <a:srgbClr val="eb68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dim color"/>
          <p:cNvSpPr/>
          <p:nvPr/>
        </p:nvSpPr>
        <p:spPr>
          <a:xfrm>
            <a:off x="8183880" y="2395800"/>
            <a:ext cx="3428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ourier New"/>
                <a:ea typeface="Courier New"/>
              </a:rPr>
              <a:t>color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ourier New"/>
              </a:rPr>
              <a:t>een categorie als kleur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dim dot facet_col"/>
          <p:cNvSpPr/>
          <p:nvPr/>
        </p:nvSpPr>
        <p:spPr>
          <a:xfrm>
            <a:off x="7680960" y="3346560"/>
            <a:ext cx="328680" cy="328680"/>
          </a:xfrm>
          <a:prstGeom prst="ellipse">
            <a:avLst/>
          </a:prstGeom>
          <a:solidFill>
            <a:srgbClr val="1baf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dim facet_col"/>
          <p:cNvSpPr/>
          <p:nvPr/>
        </p:nvSpPr>
        <p:spPr>
          <a:xfrm>
            <a:off x="8183880" y="3237120"/>
            <a:ext cx="3428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ourier New"/>
                <a:ea typeface="Courier New"/>
              </a:rPr>
              <a:t>facet_col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ourier New"/>
              </a:rPr>
              <a:t>één kleine grafiek per waarde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dim dot size"/>
          <p:cNvSpPr/>
          <p:nvPr/>
        </p:nvSpPr>
        <p:spPr>
          <a:xfrm>
            <a:off x="7680960" y="4187880"/>
            <a:ext cx="328680" cy="328680"/>
          </a:xfrm>
          <a:prstGeom prst="ellipse">
            <a:avLst/>
          </a:prstGeom>
          <a:solidFill>
            <a:srgbClr val="eda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dim size"/>
          <p:cNvSpPr/>
          <p:nvPr/>
        </p:nvSpPr>
        <p:spPr>
          <a:xfrm>
            <a:off x="8183880" y="4078080"/>
            <a:ext cx="3428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ourier New"/>
                <a:ea typeface="Courier New"/>
              </a:rPr>
              <a:t>size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ourier New"/>
              </a:rPr>
              <a:t>een getal als puntgrootte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dim dot labels, title"/>
          <p:cNvSpPr/>
          <p:nvPr/>
        </p:nvSpPr>
        <p:spPr>
          <a:xfrm>
            <a:off x="7680960" y="5029200"/>
            <a:ext cx="328680" cy="3286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dim labels, title"/>
          <p:cNvSpPr/>
          <p:nvPr/>
        </p:nvSpPr>
        <p:spPr>
          <a:xfrm>
            <a:off x="8183880" y="4919400"/>
            <a:ext cx="3428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ourier New"/>
                <a:ea typeface="Courier New"/>
              </a:rPr>
              <a:t>labels, title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  <a:ea typeface="Courier New"/>
              </a:rPr>
              <a:t>woorden die een coach begrijpt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sldNum" idx="28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647677-AA9C-433B-96EF-2318CA2A265A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Laat een grafiek reageren op de kijker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1" name="flow Cel 1"/>
          <p:cNvSpPr/>
          <p:nvPr/>
        </p:nvSpPr>
        <p:spPr>
          <a:xfrm>
            <a:off x="548640" y="1600200"/>
            <a:ext cx="34286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flow Cel 1 text"/>
          <p:cNvSpPr/>
          <p:nvPr/>
        </p:nvSpPr>
        <p:spPr>
          <a:xfrm>
            <a:off x="822960" y="1783080"/>
            <a:ext cx="29257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2"/>
                </a:solidFill>
                <a:latin typeface="Calibri"/>
              </a:rPr>
              <a:t>Cel 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ourier New"/>
                <a:ea typeface="Courier New"/>
              </a:rPr>
              <a:t>athlete_picker = mo.ui.dropdown(...)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flow arrow 1"/>
          <p:cNvSpPr/>
          <p:nvPr/>
        </p:nvSpPr>
        <p:spPr>
          <a:xfrm>
            <a:off x="4023360" y="2514600"/>
            <a:ext cx="274320" cy="360"/>
          </a:xfrm>
          <a:prstGeom prst="line">
            <a:avLst/>
          </a:prstGeom>
          <a:ln w="25400">
            <a:solidFill>
              <a:srgbClr val="5b6b6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flow Cel 2"/>
          <p:cNvSpPr/>
          <p:nvPr/>
        </p:nvSpPr>
        <p:spPr>
          <a:xfrm>
            <a:off x="4343400" y="1600200"/>
            <a:ext cx="342864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flow Cel 2 text"/>
          <p:cNvSpPr/>
          <p:nvPr/>
        </p:nvSpPr>
        <p:spPr>
          <a:xfrm>
            <a:off x="4617720" y="1783080"/>
            <a:ext cx="29257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dk2"/>
                </a:solidFill>
                <a:latin typeface="Calibri"/>
              </a:rPr>
              <a:t>Cel 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ourier New"/>
                <a:ea typeface="Courier New"/>
              </a:rPr>
              <a:t>df[df.name == athlete_picker.value]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flow arrow 2"/>
          <p:cNvSpPr/>
          <p:nvPr/>
        </p:nvSpPr>
        <p:spPr>
          <a:xfrm>
            <a:off x="7818120" y="2514600"/>
            <a:ext cx="274320" cy="360"/>
          </a:xfrm>
          <a:prstGeom prst="line">
            <a:avLst/>
          </a:prstGeom>
          <a:ln w="25400">
            <a:solidFill>
              <a:srgbClr val="5b6b6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flow Resultaat"/>
          <p:cNvSpPr/>
          <p:nvPr/>
        </p:nvSpPr>
        <p:spPr>
          <a:xfrm>
            <a:off x="8138160" y="1600200"/>
            <a:ext cx="3428640" cy="182844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low Resultaat text"/>
          <p:cNvSpPr/>
          <p:nvPr/>
        </p:nvSpPr>
        <p:spPr>
          <a:xfrm>
            <a:off x="8412480" y="1783080"/>
            <a:ext cx="29257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</a:rPr>
              <a:t>Resultaat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</a:rPr>
              <a:t>de grafiek tekent zichzelf opnieuw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Aanmaken en lezen in aparte cellen circle"/>
          <p:cNvSpPr/>
          <p:nvPr/>
        </p:nvSpPr>
        <p:spPr>
          <a:xfrm>
            <a:off x="548640" y="4069080"/>
            <a:ext cx="639720" cy="63972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0" name="Aanmaken en lezen in aparte cellen icon" descr="Aanmaken en lezen in aparte cellen"/>
          <p:cNvPicPr/>
          <p:nvPr/>
        </p:nvPicPr>
        <p:blipFill>
          <a:blip r:embed="rId1"/>
          <a:stretch/>
        </p:blipFill>
        <p:spPr>
          <a:xfrm>
            <a:off x="708840" y="4229280"/>
            <a:ext cx="319680" cy="319680"/>
          </a:xfrm>
          <a:prstGeom prst="rect">
            <a:avLst/>
          </a:prstGeom>
          <a:ln w="0">
            <a:noFill/>
          </a:ln>
        </p:spPr>
      </p:pic>
      <p:sp>
        <p:nvSpPr>
          <p:cNvPr id="411" name="Aanmaken en lezen in aparte cellen text"/>
          <p:cNvSpPr/>
          <p:nvPr/>
        </p:nvSpPr>
        <p:spPr>
          <a:xfrm>
            <a:off x="1371600" y="4069080"/>
            <a:ext cx="26971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Aanmaken en lezen in aparte cellen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De .value van een element kun je alleen gebruiken in een andere cel dan die waarin je het aanmaakt.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Keuzemenu's en schuifbalken circle"/>
          <p:cNvSpPr/>
          <p:nvPr/>
        </p:nvSpPr>
        <p:spPr>
          <a:xfrm>
            <a:off x="4343400" y="4069080"/>
            <a:ext cx="639720" cy="63972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3" name="Keuzemenu's en schuifbalken icon" descr="Keuzemenu's en schuifbalken"/>
          <p:cNvPicPr/>
          <p:nvPr/>
        </p:nvPicPr>
        <p:blipFill>
          <a:blip r:embed="rId2"/>
          <a:stretch/>
        </p:blipFill>
        <p:spPr>
          <a:xfrm>
            <a:off x="4503600" y="4229280"/>
            <a:ext cx="319680" cy="319680"/>
          </a:xfrm>
          <a:prstGeom prst="rect">
            <a:avLst/>
          </a:prstGeom>
          <a:ln w="0">
            <a:noFill/>
          </a:ln>
        </p:spPr>
      </p:pic>
      <p:sp>
        <p:nvSpPr>
          <p:cNvPr id="414" name="Keuzemenu's en schuifbalken text"/>
          <p:cNvSpPr/>
          <p:nvPr/>
        </p:nvSpPr>
        <p:spPr>
          <a:xfrm>
            <a:off x="5166360" y="4069080"/>
            <a:ext cx="26971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Keuzemenu's en schuifbalken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mo.ui.dropdown en mo.ui.range_slider filteren de hartslaggrafiek op atleet en tijdvenster.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Optioneel: selecteren in de grafiek circle"/>
          <p:cNvSpPr/>
          <p:nvPr/>
        </p:nvSpPr>
        <p:spPr>
          <a:xfrm>
            <a:off x="8138160" y="4069080"/>
            <a:ext cx="639720" cy="63972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16" name="Optioneel: selecteren in de grafiek icon" descr="Optioneel: selecteren in de grafiek"/>
          <p:cNvPicPr/>
          <p:nvPr/>
        </p:nvPicPr>
        <p:blipFill>
          <a:blip r:embed="rId3"/>
          <a:stretch/>
        </p:blipFill>
        <p:spPr>
          <a:xfrm>
            <a:off x="8298360" y="4229280"/>
            <a:ext cx="319680" cy="319680"/>
          </a:xfrm>
          <a:prstGeom prst="rect">
            <a:avLst/>
          </a:prstGeom>
          <a:ln w="0">
            <a:noFill/>
          </a:ln>
        </p:spPr>
      </p:pic>
      <p:sp>
        <p:nvSpPr>
          <p:cNvPr id="417" name="Optioneel: selecteren in de grafiek text"/>
          <p:cNvSpPr/>
          <p:nvPr/>
        </p:nvSpPr>
        <p:spPr>
          <a:xfrm>
            <a:off x="8961120" y="4069080"/>
            <a:ext cx="26971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dk2"/>
                </a:solidFill>
                <a:latin typeface="Calibri"/>
              </a:rPr>
              <a:t>Optioneel: selecteren in de grafiek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mo.ui.plotly zet een lassoselectie om in een dataframe dat je kunt gebruiken.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ldNum" idx="29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CDD090-D1DA-4F7F-8534-6F57D4D86439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3880" cy="82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chemeClr val="dk2"/>
                </a:solidFill>
                <a:latin typeface="Cambria"/>
              </a:rPr>
              <a:t>Oefeningen labo 5 en het minidashboard</a:t>
            </a:r>
            <a:endParaRPr b="0" lang="en-US" sz="3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0" name="lab 5 exercises card 1"/>
          <p:cNvSpPr/>
          <p:nvPr/>
        </p:nvSpPr>
        <p:spPr>
          <a:xfrm>
            <a:off x="548640" y="1463040"/>
            <a:ext cx="540972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lab 5 exercises number 1"/>
          <p:cNvSpPr/>
          <p:nvPr/>
        </p:nvSpPr>
        <p:spPr>
          <a:xfrm>
            <a:off x="777240" y="210312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lab 5 exercises number text 1"/>
          <p:cNvSpPr/>
          <p:nvPr/>
        </p:nvSpPr>
        <p:spPr>
          <a:xfrm>
            <a:off x="777240" y="21031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lab 5 exercises text 1"/>
          <p:cNvSpPr/>
          <p:nvPr/>
        </p:nvSpPr>
        <p:spPr>
          <a:xfrm>
            <a:off x="1508760" y="1600200"/>
            <a:ext cx="4266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Histogram van het gewicht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px.histogram met een titel en een aslabel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lab 5 exercises card 2"/>
          <p:cNvSpPr/>
          <p:nvPr/>
        </p:nvSpPr>
        <p:spPr>
          <a:xfrm>
            <a:off x="6233040" y="1463040"/>
            <a:ext cx="540972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lab 5 exercises number 2"/>
          <p:cNvSpPr/>
          <p:nvPr/>
        </p:nvSpPr>
        <p:spPr>
          <a:xfrm>
            <a:off x="6461640" y="210312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lab 5 exercises number text 2"/>
          <p:cNvSpPr/>
          <p:nvPr/>
        </p:nvSpPr>
        <p:spPr>
          <a:xfrm>
            <a:off x="6461640" y="21031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lab 5 exercises text 2"/>
          <p:cNvSpPr/>
          <p:nvPr/>
        </p:nvSpPr>
        <p:spPr>
          <a:xfrm>
            <a:off x="7193160" y="1600200"/>
            <a:ext cx="4266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Yo-Yo per positie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px.box, met facetten per geslacht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lab 5 exercises card 3"/>
          <p:cNvSpPr/>
          <p:nvPr/>
        </p:nvSpPr>
        <p:spPr>
          <a:xfrm>
            <a:off x="548640" y="3566160"/>
            <a:ext cx="5409720" cy="182844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lab 5 exercises number 3"/>
          <p:cNvSpPr/>
          <p:nvPr/>
        </p:nvSpPr>
        <p:spPr>
          <a:xfrm>
            <a:off x="777240" y="4206240"/>
            <a:ext cx="548280" cy="548280"/>
          </a:xfrm>
          <a:prstGeom prst="ellipse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lab 5 exercises number text 3"/>
          <p:cNvSpPr/>
          <p:nvPr/>
        </p:nvSpPr>
        <p:spPr>
          <a:xfrm>
            <a:off x="7772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lab 5 exercises text 3"/>
          <p:cNvSpPr/>
          <p:nvPr/>
        </p:nvSpPr>
        <p:spPr>
          <a:xfrm>
            <a:off x="1508760" y="3703320"/>
            <a:ext cx="4266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dk2"/>
                </a:solidFill>
                <a:latin typeface="Calibri"/>
              </a:rPr>
              <a:t>Snelheid doorheen de tijd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px.line voor één atleet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lab 5 exercises card 4"/>
          <p:cNvSpPr/>
          <p:nvPr/>
        </p:nvSpPr>
        <p:spPr>
          <a:xfrm>
            <a:off x="6233040" y="3566160"/>
            <a:ext cx="5409720" cy="182844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lab 5 exercises number 4"/>
          <p:cNvSpPr/>
          <p:nvPr/>
        </p:nvSpPr>
        <p:spPr>
          <a:xfrm>
            <a:off x="6461640" y="4206240"/>
            <a:ext cx="548280" cy="548280"/>
          </a:xfrm>
          <a:prstGeom prst="ellipse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lab 5 exercises number text 4"/>
          <p:cNvSpPr/>
          <p:nvPr/>
        </p:nvSpPr>
        <p:spPr>
          <a:xfrm>
            <a:off x="6461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1"/>
                </a:solidFill>
                <a:latin typeface="Calibri"/>
              </a:rPr>
              <a:t>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lab 5 exercises text 4"/>
          <p:cNvSpPr/>
          <p:nvPr/>
        </p:nvSpPr>
        <p:spPr>
          <a:xfrm>
            <a:off x="7193160" y="3703320"/>
            <a:ext cx="4266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chemeClr val="lt1"/>
                </a:solidFill>
                <a:latin typeface="Calibri"/>
              </a:rPr>
              <a:t>Minidashboard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</a:rPr>
              <a:t>3 grafieken + 1 keuzemenu waarop minstens één grafiek reageert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 type="sldNum" idx="30"/>
          </p:nvPr>
        </p:nvSpPr>
        <p:spPr>
          <a:xfrm>
            <a:off x="1106424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6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012588-2FCB-4C13-8DCF-4E92274A8A8D}" type="slidenum">
              <a:rPr b="0" lang="en-US" sz="1100" spc="-1" strike="noStrike">
                <a:solidFill>
                  <a:schemeClr val="accent6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/>
          </p:nvPr>
        </p:nvSpPr>
        <p:spPr>
          <a:xfrm>
            <a:off x="731520" y="914400"/>
            <a:ext cx="45716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chemeClr val="accent5"/>
                </a:solidFill>
                <a:latin typeface="Calibri"/>
              </a:rPr>
              <a:t>AFSLUITER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title"/>
          </p:nvPr>
        </p:nvSpPr>
        <p:spPr>
          <a:xfrm>
            <a:off x="731520" y="1417320"/>
            <a:ext cx="5668920" cy="20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chemeClr val="lt1"/>
                </a:solidFill>
                <a:latin typeface="Cambria"/>
              </a:rPr>
              <a:t>Van CSV-export tot dashboard in drie sessies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/>
          </p:nvPr>
        </p:nvSpPr>
        <p:spPr>
          <a:xfrm>
            <a:off x="731520" y="3657600"/>
            <a:ext cx="5897880" cy="2377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Labo 3: een nette, betrouwbare tabel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Labo 4: samenvattingen, merges en tijdreekskenmerken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Labo 5: eerlijke grafieken en een interactief dashboard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320"/>
              </a:spcBef>
              <a:spcAft>
                <a:spcPts val="799"/>
              </a:spcAft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</a:rPr>
              <a:t>Volgende stap: casepresentaties en het Project Lab (semester 2)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0" name="finish emblem circle"/>
          <p:cNvSpPr/>
          <p:nvPr/>
        </p:nvSpPr>
        <p:spPr>
          <a:xfrm>
            <a:off x="7863840" y="1737360"/>
            <a:ext cx="3108600" cy="310860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1" name="finish emblem icon" descr="finish emblem"/>
          <p:cNvPicPr/>
          <p:nvPr/>
        </p:nvPicPr>
        <p:blipFill>
          <a:blip r:embed="rId1"/>
          <a:stretch/>
        </p:blipFill>
        <p:spPr>
          <a:xfrm>
            <a:off x="8641080" y="2514600"/>
            <a:ext cx="1554120" cy="1554120"/>
          </a:xfrm>
          <a:prstGeom prst="rect">
            <a:avLst/>
          </a:prstGeom>
          <a:ln w="0">
            <a:noFill/>
          </a:ln>
        </p:spPr>
      </p:pic>
      <p:sp>
        <p:nvSpPr>
          <p:cNvPr id="442" name="PlaceHolder 4"/>
          <p:cNvSpPr>
            <a:spLocks noGrp="1"/>
          </p:cNvSpPr>
          <p:nvPr>
            <p:ph type="sldNum" idx="31"/>
          </p:nvPr>
        </p:nvSpPr>
        <p:spPr>
          <a:xfrm>
            <a:off x="11155680" y="6355080"/>
            <a:ext cx="548280" cy="31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accent5"/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92C265-204F-4DBE-8DB1-23E7CE8EF929}" type="slidenum">
              <a:rPr b="0" lang="en-US" sz="1100" spc="-1" strike="noStrike">
                <a:solidFill>
                  <a:schemeClr val="accent5"/>
                </a:solidFill>
                <a:latin typeface="Calibri"/>
              </a:rPr>
              <a:t>&lt;number&gt;</a:t>
            </a:fld>
            <a:endParaRPr b="0" lang="en-US" sz="11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lub Data">
  <a:themeElements>
    <a:clrScheme name="Club Data">
      <a:dk1>
        <a:srgbClr val="1a1f1c"/>
      </a:dk1>
      <a:lt1>
        <a:srgbClr val="ffffff"/>
      </a:lt1>
      <a:dk2>
        <a:srgbClr val="0f3d2e"/>
      </a:dk2>
      <a:lt2>
        <a:srgbClr val="eef3ef"/>
      </a:lt2>
      <a:accent1>
        <a:srgbClr val="eb6834"/>
      </a:accent1>
      <a:accent2>
        <a:srgbClr val="1baf7a"/>
      </a:accent2>
      <a:accent3>
        <a:srgbClr val="2a78d6"/>
      </a:accent3>
      <a:accent4>
        <a:srgbClr val="eda100"/>
      </a:accent4>
      <a:accent5>
        <a:srgbClr val="c6f432"/>
      </a:accent5>
      <a:accent6>
        <a:srgbClr val="5b6b63"/>
      </a:accent6>
      <a:hlink>
        <a:srgbClr val="2a78d6"/>
      </a:hlink>
      <a:folHlink>
        <a:srgbClr val="1c5cab"/>
      </a:folHlink>
    </a:clrScheme>
    <a:fontScheme name="Club Data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lub Data">
  <a:themeElements>
    <a:clrScheme name="Club Data">
      <a:dk1>
        <a:srgbClr val="1a1f1c"/>
      </a:dk1>
      <a:lt1>
        <a:srgbClr val="ffffff"/>
      </a:lt1>
      <a:dk2>
        <a:srgbClr val="0f3d2e"/>
      </a:dk2>
      <a:lt2>
        <a:srgbClr val="eef3ef"/>
      </a:lt2>
      <a:accent1>
        <a:srgbClr val="eb6834"/>
      </a:accent1>
      <a:accent2>
        <a:srgbClr val="1baf7a"/>
      </a:accent2>
      <a:accent3>
        <a:srgbClr val="2a78d6"/>
      </a:accent3>
      <a:accent4>
        <a:srgbClr val="eda100"/>
      </a:accent4>
      <a:accent5>
        <a:srgbClr val="c6f432"/>
      </a:accent5>
      <a:accent6>
        <a:srgbClr val="5b6b63"/>
      </a:accent6>
      <a:hlink>
        <a:srgbClr val="2a78d6"/>
      </a:hlink>
      <a:folHlink>
        <a:srgbClr val="1c5cab"/>
      </a:folHlink>
    </a:clrScheme>
    <a:fontScheme name="Club Data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lub Data">
  <a:themeElements>
    <a:clrScheme name="Club Data">
      <a:dk1>
        <a:srgbClr val="1a1f1c"/>
      </a:dk1>
      <a:lt1>
        <a:srgbClr val="ffffff"/>
      </a:lt1>
      <a:dk2>
        <a:srgbClr val="0f3d2e"/>
      </a:dk2>
      <a:lt2>
        <a:srgbClr val="eef3ef"/>
      </a:lt2>
      <a:accent1>
        <a:srgbClr val="eb6834"/>
      </a:accent1>
      <a:accent2>
        <a:srgbClr val="1baf7a"/>
      </a:accent2>
      <a:accent3>
        <a:srgbClr val="2a78d6"/>
      </a:accent3>
      <a:accent4>
        <a:srgbClr val="eda100"/>
      </a:accent4>
      <a:accent5>
        <a:srgbClr val="c6f432"/>
      </a:accent5>
      <a:accent6>
        <a:srgbClr val="5b6b63"/>
      </a:accent6>
      <a:hlink>
        <a:srgbClr val="2a78d6"/>
      </a:hlink>
      <a:folHlink>
        <a:srgbClr val="1c5cab"/>
      </a:folHlink>
    </a:clrScheme>
    <a:fontScheme name="Club Data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lub Data">
  <a:themeElements>
    <a:clrScheme name="Club Data">
      <a:dk1>
        <a:srgbClr val="1a1f1c"/>
      </a:dk1>
      <a:lt1>
        <a:srgbClr val="ffffff"/>
      </a:lt1>
      <a:dk2>
        <a:srgbClr val="0f3d2e"/>
      </a:dk2>
      <a:lt2>
        <a:srgbClr val="eef3ef"/>
      </a:lt2>
      <a:accent1>
        <a:srgbClr val="eb6834"/>
      </a:accent1>
      <a:accent2>
        <a:srgbClr val="1baf7a"/>
      </a:accent2>
      <a:accent3>
        <a:srgbClr val="2a78d6"/>
      </a:accent3>
      <a:accent4>
        <a:srgbClr val="eda100"/>
      </a:accent4>
      <a:accent5>
        <a:srgbClr val="c6f432"/>
      </a:accent5>
      <a:accent6>
        <a:srgbClr val="5b6b63"/>
      </a:accent6>
      <a:hlink>
        <a:srgbClr val="2a78d6"/>
      </a:hlink>
      <a:folHlink>
        <a:srgbClr val="1c5cab"/>
      </a:folHlink>
    </a:clrScheme>
    <a:fontScheme name="Club Data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231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2026-10-16T09:20:28Z</dcterms:created>
  <dc:creator>Data Science 1</dc:creator>
  <dc:description/>
  <dc:language>en-US</dc:language>
  <cp:lastModifiedBy/>
  <dcterms:modified xsi:type="dcterms:W3CDTF">2026-10-16T15:34:18Z</dcterms:modified>
  <cp:revision>2</cp:revision>
  <dc:subject>PptxGenJS Presentation</dc:subject>
  <dc:title>Data Science 1 - labo's 3 tot 5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27</vt:i4>
  </property>
  <property fmtid="{D5CDD505-2E9C-101B-9397-08002B2CF9AE}" pid="3" name="PresentationFormat">
    <vt:lpwstr>On-screen Show (16:9)</vt:lpwstr>
  </property>
  <property fmtid="{D5CDD505-2E9C-101B-9397-08002B2CF9AE}" pid="4" name="Slides">
    <vt:i4>27</vt:i4>
  </property>
</Properties>
</file>