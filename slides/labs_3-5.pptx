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leiding" id="{c21384fa-d3e5-7765-4204-910f9aeb5313}">
          <p14:sldIdLst>
            <p14:sldId id="256"/>
            <p14:sldId id="257"/>
            <p14:sldId id="258"/>
            <p14:sldId id="259"/>
          </p14:sldIdLst>
        </p14:section>
        <p14:section name="Labo 3 - Dataverwerking I" id="{b098efd4-2b51-a27e-5bdd-0083e423b57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abo 4 - Dataverwerking II" id="{54a2b7eb-66b4-f536-21e2-2ab4cd37d59b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abo 5 - Datavisualisatie I" id="{b1e8ad4c-3127-fac9-63f4-4ee9a4637d42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Afsluiter" id="{6417871d-66b4-a1b1-bdd5-80e5f887fdd0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63"/>
                </a:solidFill>
                <a:latin typeface="+mn-lt"/>
              </a:rPr>
              <a:t>Ruwe waarden van athletes_raw["position"].value_counts()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Atleten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FWD</c:v>
                  </c:pt>
                  <c:pt idx="1">
                    <c:v>"defender "</c:v>
                  </c:pt>
                  <c:pt idx="2">
                    <c:v>forward</c:v>
                  </c:pt>
                  <c:pt idx="3">
                    <c:v>midfielder</c:v>
                  </c:pt>
                  <c:pt idx="4">
                    <c:v>MID</c:v>
                  </c:pt>
                  <c:pt idx="5">
                    <c:v>goalkeeper</c:v>
                  </c:pt>
                  <c:pt idx="6">
                    <c:v>Midfielder</c:v>
                  </c:pt>
                  <c:pt idx="7">
                    <c:v>Defender</c:v>
                  </c:pt>
                  <c:pt idx="8">
                    <c:v>defender</c:v>
                  </c:pt>
                  <c:pt idx="9">
                    <c:v>Forward</c:v>
                  </c:pt>
                  <c:pt idx="10">
                    <c:v>GK</c:v>
                  </c:pt>
                  <c:pt idx="11">
                    <c:v>"forward "</c:v>
                  </c:pt>
                  <c:pt idx="12">
                    <c:v>DEF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63"/>
                </a:solidFill>
                <a:latin typeface="+mn-lt"/>
              </a:rPr>
              <a:t>Minuten per hartslagzone, sessie van 40 minuten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Zone 1</c:v>
                </c:pt>
              </c:strCache>
            </c:strRef>
          </c:tx>
          <c:spPr>
            <a:solidFill>
              <a:srgbClr val="CDE2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Amber Jacobs</c:v>
                  </c:pt>
                  <c:pt idx="1">
                    <c:v>Bram Wouters</c:v>
                  </c:pt>
                  <c:pt idx="2">
                    <c:v>Emma Verhoeven</c:v>
                  </c:pt>
                  <c:pt idx="3">
                    <c:v>Stan Mertens</c:v>
                  </c:pt>
                  <c:pt idx="4">
                    <c:v>Yana De Backer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7.7</c:v>
                </c:pt>
                <c:pt idx="2">
                  <c:v>7.5</c:v>
                </c:pt>
                <c:pt idx="3">
                  <c:v>7.8</c:v>
                </c:pt>
                <c:pt idx="4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Zone 2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Amber Jacobs</c:v>
                  </c:pt>
                  <c:pt idx="1">
                    <c:v>Bram Wouters</c:v>
                  </c:pt>
                  <c:pt idx="2">
                    <c:v>Emma Verhoeven</c:v>
                  </c:pt>
                  <c:pt idx="3">
                    <c:v>Stan Mertens</c:v>
                  </c:pt>
                  <c:pt idx="4">
                    <c:v>Yana De Backer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</c:v>
                </c:pt>
                <c:pt idx="1">
                  <c:v>1.9</c:v>
                </c:pt>
                <c:pt idx="2">
                  <c:v>2</c:v>
                </c:pt>
                <c:pt idx="3">
                  <c:v>2</c:v>
                </c:pt>
                <c:pt idx="4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Zone 3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Amber Jacobs</c:v>
                  </c:pt>
                  <c:pt idx="1">
                    <c:v>Bram Wouters</c:v>
                  </c:pt>
                  <c:pt idx="2">
                    <c:v>Emma Verhoeven</c:v>
                  </c:pt>
                  <c:pt idx="3">
                    <c:v>Stan Mertens</c:v>
                  </c:pt>
                  <c:pt idx="4">
                    <c:v>Yana De Backer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7.8</c:v>
                </c:pt>
                <c:pt idx="1">
                  <c:v>1.8</c:v>
                </c:pt>
                <c:pt idx="2">
                  <c:v>2.3</c:v>
                </c:pt>
                <c:pt idx="3">
                  <c:v>5.4</c:v>
                </c:pt>
                <c:pt idx="4">
                  <c:v>7.9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Zone 4</c:v>
                </c:pt>
              </c:strCache>
            </c:strRef>
          </c:tx>
          <c:spPr>
            <a:solidFill>
              <a:srgbClr val="1C5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Amber Jacobs</c:v>
                  </c:pt>
                  <c:pt idx="1">
                    <c:v>Bram Wouters</c:v>
                  </c:pt>
                  <c:pt idx="2">
                    <c:v>Emma Verhoeven</c:v>
                  </c:pt>
                  <c:pt idx="3">
                    <c:v>Stan Mertens</c:v>
                  </c:pt>
                  <c:pt idx="4">
                    <c:v>Yana De Backer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20.6</c:v>
                </c:pt>
                <c:pt idx="1">
                  <c:v>19.6</c:v>
                </c:pt>
                <c:pt idx="2">
                  <c:v>20.8</c:v>
                </c:pt>
                <c:pt idx="3">
                  <c:v>22.4</c:v>
                </c:pt>
                <c:pt idx="4">
                  <c:v>19.4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Zone 5</c:v>
                </c:pt>
              </c:strCache>
            </c:strRef>
          </c:tx>
          <c:spPr>
            <a:solidFill>
              <a:srgbClr val="0D3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Amber Jacobs</c:v>
                  </c:pt>
                  <c:pt idx="1">
                    <c:v>Bram Wouters</c:v>
                  </c:pt>
                  <c:pt idx="2">
                    <c:v>Emma Verhoeven</c:v>
                  </c:pt>
                  <c:pt idx="3">
                    <c:v>Stan Mertens</c:v>
                  </c:pt>
                  <c:pt idx="4">
                    <c:v>Yana De Backer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1.7</c:v>
                </c:pt>
                <c:pt idx="1">
                  <c:v>8.8</c:v>
                </c:pt>
                <c:pt idx="2">
                  <c:v>7.3</c:v>
                </c:pt>
                <c:pt idx="3">
                  <c:v>2.4</c:v>
                </c:pt>
                <c:pt idx="4">
                  <c:v>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9525" cap="flat">
              <a:solidFill>
                <a:srgbClr val="DCE3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F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F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F1C"/>
                </a:solidFill>
                <a:latin typeface="+mn-lt"/>
              </a:rPr>
              <a:t>As vanaf 0: eerlijk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Gemiddelde sprint 30 m (s)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Forward</c:v>
                  </c:pt>
                  <c:pt idx="1">
                    <c:v>Midfielder</c:v>
                  </c:pt>
                  <c:pt idx="2">
                    <c:v>Defender</c:v>
                  </c:pt>
                  <c:pt idx="3">
                    <c:v>Goalkeeper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5.185</c:v>
                </c:pt>
                <c:pt idx="1">
                  <c:v>5.385</c:v>
                </c:pt>
                <c:pt idx="2">
                  <c:v>5.499</c:v>
                </c:pt>
                <c:pt idx="3">
                  <c:v>5.382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DCE3D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F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F1C"/>
                </a:solidFill>
                <a:latin typeface="+mn-lt"/>
              </a:rPr>
              <a:t>Afgeknotte as: misleidend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Gemiddelde sprint 30 m (s)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Forward</c:v>
                  </c:pt>
                  <c:pt idx="1">
                    <c:v>Midfielder</c:v>
                  </c:pt>
                  <c:pt idx="2">
                    <c:v>Defender</c:v>
                  </c:pt>
                  <c:pt idx="3">
                    <c:v>Goalkeeper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5.185</c:v>
                </c:pt>
                <c:pt idx="1">
                  <c:v>5.385</c:v>
                </c:pt>
                <c:pt idx="2">
                  <c:v>5.499</c:v>
                </c:pt>
                <c:pt idx="3">
                  <c:v>5.382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5"/>
          <c:min val="5.1"/>
        </c:scaling>
        <c:delete val="0"/>
        <c:axPos val="l"/>
        <c:majorGridlines>
          <c:spPr>
            <a:ln w="9525" cap="flat">
              <a:solidFill>
                <a:srgbClr val="DCE3D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namiddagsessies met één verhaallijn: de studenten zijn de nieuwe data-analist van een jeugdclub voor voetbal en atletiek, en brengen drie rommelige exportbestanden helemaal tot een interactief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Dezelfde drie bestanden komen in alle drie de sessies terug. De problemen in de data zijn bewust: ze worden allemaal gevonden en opgelost in labo 3, en sommige komen terug in labo 4 (de dubbele atleet en de merge).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 labo bouwt verder op het vorige: de opkuis-pipeline van labo 3 komt in compacte vorm terug aan het begin van labo 4 en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de demoslider bovenaan labo 3 om reactiviteit concreet te maken. De antwoordcontroles staan in de map checks/ van de repository, zodat studenten het antwoord niet uit het notebook kunnen aflezen.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Leerdoelen van labo 3. Op het einde van de sessie hebben de studenten een nette atletentabel en een nette testtabel.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Tijden zoals in de sectiekoppen van het notebook. De pauze is het gat tussen 14:50 en 15:05.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met de ruwe tekst van tests.csv (opwarmcel) om te tonen waarom een tabelbibliotheek nodig is: alles is tekst, er zijn geen kolomtypes en niets kan gefilterd of samengevat worden.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je tests_raw aflopend sorteert op sprinttijd, staan er waarden in de duizenden bovenaan - de millisecondenfout, die terugkomt bij het opkuisen. Oefeningen 2 en 3 gaan over deze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 4 (BMI) en oefening 5 (leeftijd) oefenen dit in. De studenten werken op een .copy() van athletes_raw, zodat de ruwe tabel onaangeroerd blijft.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kleuren tonen bij welke echte positie elk label hoort. .str.strip().str.lower() voegt de meeste varianten samen; voor de overblijvende afkortingen heb je een expliciete mapping (dictionary) nodig. Oefening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Ontbrekende waarden: 2 keer geslacht en 2 keer lengte in athletes.csv, telkens 6 waarden in drie kolommen van tests. De quiz in het notebook vraagt wat je doet met twee ontbrekende lengtes. Oefeningen 7 (eenheden sprint) en 8 (dubbels). Het notebook sluit deze sectie af met één pipeline die alle stappen achter elkaar doet: assign, drop_duplicates, rename, astype.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uitdaging geeft een voorsmaakje van groupby en merge, de kern van labo 4. Sluit af met het exit ticket: één truc om te hergebruiken en één ding dat nog onduidelijk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Leerdoelen van labo 4. Het labo herhaalt eerst de opkuis van vorige week in compacte vorm, bewust zonder de dubbele atleet te verwijderen.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herhalingscel geeft een echte KeyError tot de studenten ze herstellen - dat is de bedoeling.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observed=True slaat lege combinaties van categorieën over. Oefening 1: groepeer per geslacht en leeftijdscategorie en bereken de gemiddelde lengte en het gemiddelde gewicht.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zijn beide joins even lang omdat elke atleet een testresultaat heeft; met echte data is dat zelden zeker. Dubbels verwijderen na de merge zou ook de andere testmomenten van de overblijvende atleet weggooien. Oefening 2 telt de rijen die verloren gaan door het verwijderen van dubbels.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tabel toont de eerste twee atleten, testmomenten 1 en 2, na het corrigeren van de eenheden. melt zet brede data terug om naar lange data, de vorm die plotly express in labo 5 verwacht. Oefening 3 doet hetzelfde voor spronghoogte, waar een positief verschil vooruitgang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Berekend uit hr_session.csv met de vuistregel 220 - leeftijd. rolling en resample hebben data nodig die op tijd gesorteerd is en een tijdsindex heeft. Oefening 4 berekent de minuten in zone 4-5 per atleet.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minicase maken de studenten per twee. De afstand per rij is speed_kmh / 3600 km omdat er één meting per seconde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Leerdoelen van labo 5. Het notebook laadt de volledige opkuis-pipeline opnieuw in één cel: combined (atleet x testmoment) en hr_zoned (per seconde, met een 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POSITION_COLORS en ZONE_COLORS worden één keer bovenaan het notebook vastgelegd, zodat lezers de legende maar één keer moeten leren. Deze presentatie gebruikt dezelfde kleuren.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grafiektype zegt welke vraag het belangrijkst is. De verkeerde kiezen, of hem slordig tekenen, kan even goed misleiden als informeren.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Echte gemiddelden uit de opgekuiste data. In het notebook beoordelen de studenten de misleidende grafiek met een meerkeuzevraag: het enige juiste antwoord is dat de y-as niet bij 0 begint. Om dezelfde reden krijgt de hartslaggrafiek nooit een tweede y-as.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Vervang px.scatter door px.histogram, px.box of px.line en de argumenten blijven dezelfde. Data in de lange vorm (labo 4) is precies wat deze functies verwachten. Oefeningen 1 (histogram), 2 (boxplot met facetten) en 3 (lijngrafiek van de snelheid).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reactiviteit uit het eerste labo, toegepast op grafieken. De hartslaggrafiek met zonebanden (add_hrect) is de andere grote demo van dit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minidashboard mag alles uit het notebook hergebruiken: het doel is combineren, niet nieuwe grafiektypes. Het kan dienen als inzending voor deze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het exit ticket van labo 3 als model: één techniek om te onthouden, één ding dat nog onduidelijk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57600"/>
            <a:ext cx="5486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Data Science 1 · labo's 3-5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Data Science 1 · labo's 3-5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Van rommelige export tot coachdashboard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Data Science 1 · labo's 3-5: Dataverwerking I &amp; II, Datavisualisatie 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Jij bent de nieuwe data-analist van de club</a:t>
            </a:r>
            <a:endParaRPr lang="en-US" sz="3400" dirty="0"/>
          </a:p>
        </p:txBody>
      </p:sp>
      <p:sp>
        <p:nvSpPr>
          <p:cNvPr id="3" name="file card 1"/>
          <p:cNvSpPr/>
          <p:nvPr/>
        </p:nvSpPr>
        <p:spPr>
          <a:xfrm>
            <a:off x="54864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athletes.csv ci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athletes.csv icon" descr="athletes.cs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athletes.csv name"/>
          <p:cNvSpPr txBox="1"/>
          <p:nvPr/>
        </p:nvSpPr>
        <p:spPr>
          <a:xfrm>
            <a:off x="178308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athletes.csv</a:t>
            </a:r>
            <a:endParaRPr lang="en-US" sz="1800" dirty="0"/>
          </a:p>
        </p:txBody>
      </p:sp>
      <p:sp>
        <p:nvSpPr>
          <p:cNvPr id="7" name="athletes.csv stat"/>
          <p:cNvSpPr txBox="1"/>
          <p:nvPr/>
        </p:nvSpPr>
        <p:spPr>
          <a:xfrm>
            <a:off x="86868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43</a:t>
            </a:r>
            <a:endParaRPr lang="en-US" sz="5400" dirty="0"/>
          </a:p>
        </p:txBody>
      </p:sp>
      <p:sp>
        <p:nvSpPr>
          <p:cNvPr id="8" name="athletes.csv unit"/>
          <p:cNvSpPr txBox="1"/>
          <p:nvPr/>
        </p:nvSpPr>
        <p:spPr>
          <a:xfrm>
            <a:off x="8686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atleten · 7 kolommen</a:t>
            </a:r>
            <a:endParaRPr lang="en-US" sz="1500" dirty="0"/>
          </a:p>
        </p:txBody>
      </p:sp>
      <p:sp>
        <p:nvSpPr>
          <p:cNvPr id="9" name="athletes.csv desc"/>
          <p:cNvSpPr txBox="1"/>
          <p:nvPr/>
        </p:nvSpPr>
        <p:spPr>
          <a:xfrm>
            <a:off x="86868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ID, geboortedatum, geslacht, positie, lengte, gewicht</a:t>
            </a:r>
            <a:endParaRPr lang="en-US" sz="1400" dirty="0"/>
          </a:p>
        </p:txBody>
      </p:sp>
      <p:sp>
        <p:nvSpPr>
          <p:cNvPr id="10" name="file card 2"/>
          <p:cNvSpPr/>
          <p:nvPr/>
        </p:nvSpPr>
        <p:spPr>
          <a:xfrm>
            <a:off x="429768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sts.csv circle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tests.csv icon" descr="tests.cs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65960"/>
            <a:ext cx="365760" cy="365760"/>
          </a:xfrm>
          <a:prstGeom prst="rect">
            <a:avLst/>
          </a:prstGeom>
        </p:spPr>
      </p:pic>
      <p:sp>
        <p:nvSpPr>
          <p:cNvPr id="13" name="tests.csv name"/>
          <p:cNvSpPr txBox="1"/>
          <p:nvPr/>
        </p:nvSpPr>
        <p:spPr>
          <a:xfrm>
            <a:off x="553212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tests.csv</a:t>
            </a:r>
            <a:endParaRPr lang="en-US" sz="1800" dirty="0"/>
          </a:p>
        </p:txBody>
      </p:sp>
      <p:sp>
        <p:nvSpPr>
          <p:cNvPr id="14" name="tests.csv stat"/>
          <p:cNvSpPr txBox="1"/>
          <p:nvPr/>
        </p:nvSpPr>
        <p:spPr>
          <a:xfrm>
            <a:off x="461772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114</a:t>
            </a:r>
            <a:endParaRPr lang="en-US" sz="5400" dirty="0"/>
          </a:p>
        </p:txBody>
      </p:sp>
      <p:sp>
        <p:nvSpPr>
          <p:cNvPr id="15" name="tests.csv unit"/>
          <p:cNvSpPr txBox="1"/>
          <p:nvPr/>
        </p:nvSpPr>
        <p:spPr>
          <a:xfrm>
            <a:off x="46177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testresultaten · 8 kolommen</a:t>
            </a:r>
            <a:endParaRPr lang="en-US" sz="1500" dirty="0"/>
          </a:p>
        </p:txBody>
      </p:sp>
      <p:sp>
        <p:nvSpPr>
          <p:cNvPr id="16" name="tests.csv desc"/>
          <p:cNvSpPr txBox="1"/>
          <p:nvPr/>
        </p:nvSpPr>
        <p:spPr>
          <a:xfrm>
            <a:off x="461772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Sprint 10 m / 30 m, spronghoogte, Yo-Yo-niveau, 3 testmomenten</a:t>
            </a:r>
            <a:endParaRPr lang="en-US" sz="1400" dirty="0"/>
          </a:p>
        </p:txBody>
      </p:sp>
      <p:sp>
        <p:nvSpPr>
          <p:cNvPr id="17" name="file card 3"/>
          <p:cNvSpPr/>
          <p:nvPr/>
        </p:nvSpPr>
        <p:spPr>
          <a:xfrm>
            <a:off x="804672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8" name="hr_session.csv circle"/>
          <p:cNvSpPr/>
          <p:nvPr/>
        </p:nvSpPr>
        <p:spPr>
          <a:xfrm>
            <a:off x="836676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hr_session.csv icon" descr="hr_session.cs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365760" cy="365760"/>
          </a:xfrm>
          <a:prstGeom prst="rect">
            <a:avLst/>
          </a:prstGeom>
        </p:spPr>
      </p:pic>
      <p:sp>
        <p:nvSpPr>
          <p:cNvPr id="20" name="hr_session.csv name"/>
          <p:cNvSpPr txBox="1"/>
          <p:nvPr/>
        </p:nvSpPr>
        <p:spPr>
          <a:xfrm>
            <a:off x="928116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hr_session.csv</a:t>
            </a:r>
            <a:endParaRPr lang="en-US" sz="1800" dirty="0"/>
          </a:p>
        </p:txBody>
      </p:sp>
      <p:sp>
        <p:nvSpPr>
          <p:cNvPr id="21" name="hr_session.csv stat"/>
          <p:cNvSpPr txBox="1"/>
          <p:nvPr/>
        </p:nvSpPr>
        <p:spPr>
          <a:xfrm>
            <a:off x="836676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12.000</a:t>
            </a:r>
            <a:endParaRPr lang="en-US" sz="5400" dirty="0"/>
          </a:p>
        </p:txBody>
      </p:sp>
      <p:sp>
        <p:nvSpPr>
          <p:cNvPr id="22" name="hr_session.csv unit"/>
          <p:cNvSpPr txBox="1"/>
          <p:nvPr/>
        </p:nvSpPr>
        <p:spPr>
          <a:xfrm>
            <a:off x="836676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seconden data · 5 atleten</a:t>
            </a:r>
            <a:endParaRPr lang="en-US" sz="1500" dirty="0"/>
          </a:p>
        </p:txBody>
      </p:sp>
      <p:sp>
        <p:nvSpPr>
          <p:cNvPr id="23" name="hr_session.csv desc"/>
          <p:cNvSpPr txBox="1"/>
          <p:nvPr/>
        </p:nvSpPr>
        <p:spPr>
          <a:xfrm>
            <a:off x="836676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Hartslag en snelheid per seconde tijdens één training</a:t>
            </a:r>
            <a:endParaRPr lang="en-US" sz="1400" dirty="0"/>
          </a:p>
        </p:txBody>
      </p:sp>
      <p:sp>
        <p:nvSpPr>
          <p:cNvPr id="24" name="messy note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Bewust rommelig: </a:t>
            </a:r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inconsistente labels, sprinttijden in milliseconden, ontbrekende waarden, een dubbele atleet en decimale komma's.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Drie sessies, één verhaallijn</a:t>
            </a:r>
            <a:endParaRPr lang="en-US" sz="3400" dirty="0"/>
          </a:p>
        </p:txBody>
      </p:sp>
      <p:sp>
        <p:nvSpPr>
          <p:cNvPr id="3" name="Labo 3 icon circle"/>
          <p:cNvSpPr/>
          <p:nvPr/>
        </p:nvSpPr>
        <p:spPr>
          <a:xfrm>
            <a:off x="548640" y="16002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Labo 3 icon icon" descr="Labo 3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5" name="Labo 3 arrow"/>
          <p:cNvSpPr/>
          <p:nvPr/>
        </p:nvSpPr>
        <p:spPr>
          <a:xfrm>
            <a:off x="1645920" y="2057400"/>
            <a:ext cx="24688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6" name="Labo 3 title"/>
          <p:cNvSpPr txBox="1"/>
          <p:nvPr/>
        </p:nvSpPr>
        <p:spPr>
          <a:xfrm>
            <a:off x="54864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Labo 3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Dataverwerking I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Van bestand tot nette tabel</a:t>
            </a:r>
            <a:endParaRPr lang="en-US" sz="1600" dirty="0"/>
          </a:p>
        </p:txBody>
      </p:sp>
      <p:sp>
        <p:nvSpPr>
          <p:cNvPr id="7" name="Labo 3 topics"/>
          <p:cNvSpPr txBox="1"/>
          <p:nvPr/>
        </p:nvSpPr>
        <p:spPr>
          <a:xfrm>
            <a:off x="548640" y="4206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Inladen · verkennen · filteren · nieuwe kolommen · opkuisen</a:t>
            </a:r>
            <a:endParaRPr lang="en-US" sz="1500" dirty="0"/>
          </a:p>
        </p:txBody>
      </p:sp>
      <p:sp>
        <p:nvSpPr>
          <p:cNvPr id="8" name="Labo 4 icon circle"/>
          <p:cNvSpPr/>
          <p:nvPr/>
        </p:nvSpPr>
        <p:spPr>
          <a:xfrm>
            <a:off x="4297680" y="16002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Labo 4 icon icon" descr="Labo 4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0"/>
            <a:ext cx="457200" cy="457200"/>
          </a:xfrm>
          <a:prstGeom prst="rect">
            <a:avLst/>
          </a:prstGeom>
        </p:spPr>
      </p:pic>
      <p:sp>
        <p:nvSpPr>
          <p:cNvPr id="10" name="Labo 4 arrow"/>
          <p:cNvSpPr/>
          <p:nvPr/>
        </p:nvSpPr>
        <p:spPr>
          <a:xfrm>
            <a:off x="5394960" y="2057400"/>
            <a:ext cx="24688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1" name="Labo 4 title"/>
          <p:cNvSpPr txBox="1"/>
          <p:nvPr/>
        </p:nvSpPr>
        <p:spPr>
          <a:xfrm>
            <a:off x="429768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Labo 4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Dataverwerking II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Combineren, samenvatten, herschikken</a:t>
            </a:r>
            <a:endParaRPr lang="en-US" sz="1600" dirty="0"/>
          </a:p>
        </p:txBody>
      </p:sp>
      <p:sp>
        <p:nvSpPr>
          <p:cNvPr id="12" name="Labo 4 topics"/>
          <p:cNvSpPr txBox="1"/>
          <p:nvPr/>
        </p:nvSpPr>
        <p:spPr>
          <a:xfrm>
            <a:off x="4297680" y="4206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groupby · merge · melt / pivot · tijdreeksen</a:t>
            </a:r>
            <a:endParaRPr lang="en-US" sz="1500" dirty="0"/>
          </a:p>
        </p:txBody>
      </p:sp>
      <p:sp>
        <p:nvSpPr>
          <p:cNvPr id="13" name="Labo 5 icon circle"/>
          <p:cNvSpPr/>
          <p:nvPr/>
        </p:nvSpPr>
        <p:spPr>
          <a:xfrm>
            <a:off x="804672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abo 5 icon icon" descr="Labo 5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828800"/>
            <a:ext cx="457200" cy="457200"/>
          </a:xfrm>
          <a:prstGeom prst="rect">
            <a:avLst/>
          </a:prstGeom>
        </p:spPr>
      </p:pic>
      <p:sp>
        <p:nvSpPr>
          <p:cNvPr id="15" name="Labo 5 title"/>
          <p:cNvSpPr txBox="1"/>
          <p:nvPr/>
        </p:nvSpPr>
        <p:spPr>
          <a:xfrm>
            <a:off x="804672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Labo 5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Datavisualisatie I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Vertel het verhaal met plotly</a:t>
            </a:r>
            <a:endParaRPr lang="en-US" sz="1600" dirty="0"/>
          </a:p>
        </p:txBody>
      </p:sp>
      <p:sp>
        <p:nvSpPr>
          <p:cNvPr id="16" name="Labo 5 topics"/>
          <p:cNvSpPr txBox="1"/>
          <p:nvPr/>
        </p:nvSpPr>
        <p:spPr>
          <a:xfrm>
            <a:off x="8046720" y="4206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Grafiekkeuze · plotly express · interactiviteit ·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Zo werken de labo's</a:t>
            </a:r>
            <a:endParaRPr lang="en-US" sz="3400" dirty="0"/>
          </a:p>
        </p:txBody>
      </p:sp>
      <p:sp>
        <p:nvSpPr>
          <p:cNvPr id="3" name="Reactieve notebooks circle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Reactieve notebooks icon" descr="Reactieve noteboo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48790"/>
            <a:ext cx="388620" cy="388620"/>
          </a:xfrm>
          <a:prstGeom prst="rect">
            <a:avLst/>
          </a:prstGeom>
        </p:spPr>
      </p:pic>
      <p:sp>
        <p:nvSpPr>
          <p:cNvPr id="5" name="Reactieve notebooks text"/>
          <p:cNvSpPr txBox="1"/>
          <p:nvPr/>
        </p:nvSpPr>
        <p:spPr>
          <a:xfrm>
            <a:off x="1600200" y="157276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Reactieve notebooks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 je een cel aan, dan draait elke cel die ervan afhangt opnieuw, in volgorde van afhankelijkheid - niet van boven naar onder.</a:t>
            </a:r>
            <a:endParaRPr lang="en-US" sz="1600" dirty="0"/>
          </a:p>
        </p:txBody>
      </p:sp>
      <p:sp>
        <p:nvSpPr>
          <p:cNvPr id="6" name="Eén naam per variabele circle"/>
          <p:cNvSpPr/>
          <p:nvPr/>
        </p:nvSpPr>
        <p:spPr>
          <a:xfrm>
            <a:off x="6217920" y="155448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7" name="Eén naam per variabele icon" descr="Eén naam per variabe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1748790"/>
            <a:ext cx="388620" cy="388620"/>
          </a:xfrm>
          <a:prstGeom prst="rect">
            <a:avLst/>
          </a:prstGeom>
        </p:spPr>
      </p:pic>
      <p:sp>
        <p:nvSpPr>
          <p:cNvPr id="8" name="Eén naam per variabele text"/>
          <p:cNvSpPr txBox="1"/>
          <p:nvPr/>
        </p:nvSpPr>
        <p:spPr>
          <a:xfrm>
            <a:off x="7269480" y="157276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Eén naam per variabele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Twee cellen kunnen niet dezelfde variabele definiëren. Geef elke stap een naam: tests_raw → tests_clean.</a:t>
            </a:r>
            <a:endParaRPr lang="en-US" sz="1600" dirty="0"/>
          </a:p>
        </p:txBody>
      </p:sp>
      <p:sp>
        <p:nvSpPr>
          <p:cNvPr id="9" name="Vul de ... in circle"/>
          <p:cNvSpPr/>
          <p:nvPr/>
        </p:nvSpPr>
        <p:spPr>
          <a:xfrm>
            <a:off x="548640" y="379476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Vul de ... in icon" descr="Vul de ... 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989070"/>
            <a:ext cx="388620" cy="388620"/>
          </a:xfrm>
          <a:prstGeom prst="rect">
            <a:avLst/>
          </a:prstGeom>
        </p:spPr>
      </p:pic>
      <p:sp>
        <p:nvSpPr>
          <p:cNvPr id="11" name="Vul de ... in text"/>
          <p:cNvSpPr txBox="1"/>
          <p:nvPr/>
        </p:nvSpPr>
        <p:spPr>
          <a:xfrm>
            <a:off x="1600200" y="381304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Vul de ... in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Elke oefening heeft een placeholder .... De verborgen cel eronder kleurt groen als je antwoord juist is.</a:t>
            </a:r>
            <a:endParaRPr lang="en-US" sz="1600" dirty="0"/>
          </a:p>
        </p:txBody>
      </p:sp>
      <p:sp>
        <p:nvSpPr>
          <p:cNvPr id="12" name="Overal te gebruiken circle"/>
          <p:cNvSpPr/>
          <p:nvPr/>
        </p:nvSpPr>
        <p:spPr>
          <a:xfrm>
            <a:off x="6217920" y="379476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Overal te gebruiken icon" descr="Overal te gebruik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3989070"/>
            <a:ext cx="388620" cy="388620"/>
          </a:xfrm>
          <a:prstGeom prst="rect">
            <a:avLst/>
          </a:prstGeom>
        </p:spPr>
      </p:pic>
      <p:sp>
        <p:nvSpPr>
          <p:cNvPr id="14" name="Overal te gebruiken text"/>
          <p:cNvSpPr txBox="1"/>
          <p:nvPr/>
        </p:nvSpPr>
        <p:spPr>
          <a:xfrm>
            <a:off x="7269480" y="381304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Overal te gebruiken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Lokaal met marimo, of online op marimo.app: het notebook leest de data dan van GitHub.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LABO 3 · DATAVERWERKING I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Van bestand tot nette tabel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57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Een dataset inladen en een eerste indruk krijgen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Rijen en kolommen selecteren en filteren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Afgeleide kolommen toevoegen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Tekst, getallen, ontbrekende waarden en dubbels opkuisen</a:t>
            </a:r>
            <a:endParaRPr lang="en-US" sz="1600" dirty="0"/>
          </a:p>
        </p:txBody>
      </p:sp>
      <p:sp>
        <p:nvSpPr>
          <p:cNvPr id="5" name="lab 3 emblem circle"/>
          <p:cNvSpPr/>
          <p:nvPr/>
        </p:nvSpPr>
        <p:spPr>
          <a:xfrm>
            <a:off x="7863840" y="1737360"/>
            <a:ext cx="3108960" cy="3108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lab 3 emblem icon" descr="lab 3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514600"/>
            <a:ext cx="155448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Labo 3 in één oogopslag</a:t>
            </a:r>
            <a:endParaRPr lang="en-US" sz="3400" dirty="0"/>
          </a:p>
        </p:txBody>
      </p:sp>
      <p:sp>
        <p:nvSpPr>
          <p:cNvPr id="3" name="lab 3 schedule time 1"/>
          <p:cNvSpPr txBox="1"/>
          <p:nvPr/>
        </p:nvSpPr>
        <p:spPr>
          <a:xfrm>
            <a:off x="54864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13:00-13:20</a:t>
            </a:r>
            <a:endParaRPr lang="en-US" sz="1400" dirty="0"/>
          </a:p>
        </p:txBody>
      </p:sp>
      <p:sp>
        <p:nvSpPr>
          <p:cNvPr id="4" name="lab 3 schedule bar 1"/>
          <p:cNvSpPr/>
          <p:nvPr/>
        </p:nvSpPr>
        <p:spPr>
          <a:xfrm>
            <a:off x="2103120" y="1463040"/>
            <a:ext cx="4470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5" name="lab 3 schedule label 1"/>
          <p:cNvSpPr txBox="1"/>
          <p:nvPr/>
        </p:nvSpPr>
        <p:spPr>
          <a:xfrm>
            <a:off x="2733040" y="1463040"/>
            <a:ext cx="8910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Opwarmer: waarom niet Excel?</a:t>
            </a:r>
            <a:endParaRPr lang="en-US" sz="1600" dirty="0"/>
          </a:p>
        </p:txBody>
      </p:sp>
      <p:sp>
        <p:nvSpPr>
          <p:cNvPr id="6" name="lab 3 schedule time 2"/>
          <p:cNvSpPr txBox="1"/>
          <p:nvPr/>
        </p:nvSpPr>
        <p:spPr>
          <a:xfrm>
            <a:off x="548640" y="2011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13:20-14:00</a:t>
            </a:r>
            <a:endParaRPr lang="en-US" sz="1400" dirty="0"/>
          </a:p>
        </p:txBody>
      </p:sp>
      <p:sp>
        <p:nvSpPr>
          <p:cNvPr id="7" name="lab 3 schedule bar 2"/>
          <p:cNvSpPr/>
          <p:nvPr/>
        </p:nvSpPr>
        <p:spPr>
          <a:xfrm>
            <a:off x="2550160" y="2011680"/>
            <a:ext cx="8940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8" name="lab 3 schedule label 2"/>
          <p:cNvSpPr txBox="1"/>
          <p:nvPr/>
        </p:nvSpPr>
        <p:spPr>
          <a:xfrm>
            <a:off x="3627120" y="2011680"/>
            <a:ext cx="8015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Inladen &amp; verkennen</a:t>
            </a:r>
            <a:endParaRPr lang="en-US" sz="1600" dirty="0"/>
          </a:p>
        </p:txBody>
      </p:sp>
      <p:sp>
        <p:nvSpPr>
          <p:cNvPr id="9" name="lab 3 schedule time 3"/>
          <p:cNvSpPr txBox="1"/>
          <p:nvPr/>
        </p:nvSpPr>
        <p:spPr>
          <a:xfrm>
            <a:off x="548640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14:00-14:50</a:t>
            </a:r>
            <a:endParaRPr lang="en-US" sz="1400" dirty="0"/>
          </a:p>
        </p:txBody>
      </p:sp>
      <p:sp>
        <p:nvSpPr>
          <p:cNvPr id="10" name="lab 3 schedule bar 3"/>
          <p:cNvSpPr/>
          <p:nvPr/>
        </p:nvSpPr>
        <p:spPr>
          <a:xfrm>
            <a:off x="3444240" y="2560320"/>
            <a:ext cx="111760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lab 3 schedule label 3"/>
          <p:cNvSpPr txBox="1"/>
          <p:nvPr/>
        </p:nvSpPr>
        <p:spPr>
          <a:xfrm>
            <a:off x="4744720" y="2560320"/>
            <a:ext cx="6898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Selecteren &amp; filteren</a:t>
            </a:r>
            <a:endParaRPr lang="en-US" sz="1600" dirty="0"/>
          </a:p>
        </p:txBody>
      </p:sp>
      <p:sp>
        <p:nvSpPr>
          <p:cNvPr id="12" name="lab 3 schedule time 4"/>
          <p:cNvSpPr txBox="1"/>
          <p:nvPr/>
        </p:nvSpPr>
        <p:spPr>
          <a:xfrm>
            <a:off x="54864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14:50-15:05</a:t>
            </a:r>
            <a:endParaRPr lang="en-US" sz="1400" dirty="0"/>
          </a:p>
        </p:txBody>
      </p:sp>
      <p:sp>
        <p:nvSpPr>
          <p:cNvPr id="13" name="lab 3 schedule bar 4"/>
          <p:cNvSpPr/>
          <p:nvPr/>
        </p:nvSpPr>
        <p:spPr>
          <a:xfrm>
            <a:off x="4561840" y="3108960"/>
            <a:ext cx="335280" cy="438912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4" name="lab 3 schedule label 4"/>
          <p:cNvSpPr txBox="1"/>
          <p:nvPr/>
        </p:nvSpPr>
        <p:spPr>
          <a:xfrm>
            <a:off x="5080000" y="3108960"/>
            <a:ext cx="656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Pauze</a:t>
            </a:r>
            <a:endParaRPr lang="en-US" sz="1600" dirty="0"/>
          </a:p>
        </p:txBody>
      </p:sp>
      <p:sp>
        <p:nvSpPr>
          <p:cNvPr id="15" name="lab 3 schedule time 5"/>
          <p:cNvSpPr txBox="1"/>
          <p:nvPr/>
        </p:nvSpPr>
        <p:spPr>
          <a:xfrm>
            <a:off x="54864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15:05-15:50</a:t>
            </a:r>
            <a:endParaRPr lang="en-US" sz="1400" dirty="0"/>
          </a:p>
        </p:txBody>
      </p:sp>
      <p:sp>
        <p:nvSpPr>
          <p:cNvPr id="16" name="lab 3 schedule bar 5"/>
          <p:cNvSpPr/>
          <p:nvPr/>
        </p:nvSpPr>
        <p:spPr>
          <a:xfrm>
            <a:off x="4897120" y="3657600"/>
            <a:ext cx="10058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7" name="lab 3 schedule label 5"/>
          <p:cNvSpPr txBox="1"/>
          <p:nvPr/>
        </p:nvSpPr>
        <p:spPr>
          <a:xfrm>
            <a:off x="6085840" y="3657600"/>
            <a:ext cx="555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Nieuwe kolommen</a:t>
            </a:r>
            <a:endParaRPr lang="en-US" sz="1600" dirty="0"/>
          </a:p>
        </p:txBody>
      </p:sp>
      <p:sp>
        <p:nvSpPr>
          <p:cNvPr id="18" name="lab 3 schedule time 6"/>
          <p:cNvSpPr txBox="1"/>
          <p:nvPr/>
        </p:nvSpPr>
        <p:spPr>
          <a:xfrm>
            <a:off x="548640" y="4206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15:50-17:00</a:t>
            </a:r>
            <a:endParaRPr lang="en-US" sz="1400" dirty="0"/>
          </a:p>
        </p:txBody>
      </p:sp>
      <p:sp>
        <p:nvSpPr>
          <p:cNvPr id="19" name="lab 3 schedule bar 6"/>
          <p:cNvSpPr/>
          <p:nvPr/>
        </p:nvSpPr>
        <p:spPr>
          <a:xfrm>
            <a:off x="5902960" y="4206240"/>
            <a:ext cx="15646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0" name="lab 3 schedule label 6"/>
          <p:cNvSpPr txBox="1"/>
          <p:nvPr/>
        </p:nvSpPr>
        <p:spPr>
          <a:xfrm>
            <a:off x="7650480" y="4206240"/>
            <a:ext cx="3992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Opkuisen</a:t>
            </a:r>
            <a:endParaRPr lang="en-US" sz="1600" dirty="0"/>
          </a:p>
        </p:txBody>
      </p:sp>
      <p:sp>
        <p:nvSpPr>
          <p:cNvPr id="21" name="lab 3 schedule time 7"/>
          <p:cNvSpPr txBox="1"/>
          <p:nvPr/>
        </p:nvSpPr>
        <p:spPr>
          <a:xfrm>
            <a:off x="548640" y="4754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17:00-17:30</a:t>
            </a:r>
            <a:endParaRPr lang="en-US" sz="1400" dirty="0"/>
          </a:p>
        </p:txBody>
      </p:sp>
      <p:sp>
        <p:nvSpPr>
          <p:cNvPr id="22" name="lab 3 schedule bar 7"/>
          <p:cNvSpPr/>
          <p:nvPr/>
        </p:nvSpPr>
        <p:spPr>
          <a:xfrm>
            <a:off x="7467600" y="4754880"/>
            <a:ext cx="6705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lab 3 schedule label 7"/>
          <p:cNvSpPr txBox="1"/>
          <p:nvPr/>
        </p:nvSpPr>
        <p:spPr>
          <a:xfrm>
            <a:off x="8321040" y="4754880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Uitdaging: top 5</a:t>
            </a:r>
            <a:endParaRPr lang="en-US" sz="1600" dirty="0"/>
          </a:p>
        </p:txBody>
      </p:sp>
      <p:sp>
        <p:nvSpPr>
          <p:cNvPr id="24" name="lab 3 schedule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8 oefeningen met automatische controle, een uitdaging en een exit ticket op het einde.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Vijf methodes voor een eerste indruk</a:t>
            </a:r>
            <a:endParaRPr lang="en-US" sz="3400" dirty="0"/>
          </a:p>
        </p:txBody>
      </p:sp>
      <p:sp>
        <p:nvSpPr>
          <p:cNvPr id="3" name="method .head()"/>
          <p:cNvSpPr/>
          <p:nvPr/>
        </p:nvSpPr>
        <p:spPr>
          <a:xfrm>
            <a:off x="548640" y="1508760"/>
            <a:ext cx="53949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" name="method .head() name"/>
          <p:cNvSpPr txBox="1"/>
          <p:nvPr/>
        </p:nvSpPr>
        <p:spPr>
          <a:xfrm>
            <a:off x="777240" y="15087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n-US" sz="1700" dirty="0"/>
          </a:p>
        </p:txBody>
      </p:sp>
      <p:sp>
        <p:nvSpPr>
          <p:cNvPr id="5" name="method .head() desc"/>
          <p:cNvSpPr txBox="1"/>
          <p:nvPr/>
        </p:nvSpPr>
        <p:spPr>
          <a:xfrm>
            <a:off x="2606040" y="15087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eerste rijen</a:t>
            </a:r>
            <a:endParaRPr lang="en-US" sz="1500" dirty="0"/>
          </a:p>
        </p:txBody>
      </p:sp>
      <p:sp>
        <p:nvSpPr>
          <p:cNvPr id="6" name="method .shape"/>
          <p:cNvSpPr/>
          <p:nvPr/>
        </p:nvSpPr>
        <p:spPr>
          <a:xfrm>
            <a:off x="548640" y="2377440"/>
            <a:ext cx="53949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7" name="method .shape name"/>
          <p:cNvSpPr txBox="1"/>
          <p:nvPr/>
        </p:nvSpPr>
        <p:spPr>
          <a:xfrm>
            <a:off x="777240" y="23774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700" dirty="0"/>
          </a:p>
        </p:txBody>
      </p:sp>
      <p:sp>
        <p:nvSpPr>
          <p:cNvPr id="8" name="method .shape desc"/>
          <p:cNvSpPr txBox="1"/>
          <p:nvPr/>
        </p:nvSpPr>
        <p:spPr>
          <a:xfrm>
            <a:off x="2606040" y="23774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(rijen, kolommen)</a:t>
            </a:r>
            <a:endParaRPr lang="en-US" sz="1500" dirty="0"/>
          </a:p>
        </p:txBody>
      </p:sp>
      <p:sp>
        <p:nvSpPr>
          <p:cNvPr id="9" name="method .dtypes"/>
          <p:cNvSpPr/>
          <p:nvPr/>
        </p:nvSpPr>
        <p:spPr>
          <a:xfrm>
            <a:off x="548640" y="3246120"/>
            <a:ext cx="53949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0" name="method .dtypes name"/>
          <p:cNvSpPr txBox="1"/>
          <p:nvPr/>
        </p:nvSpPr>
        <p:spPr>
          <a:xfrm>
            <a:off x="777240" y="32461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.dtypes</a:t>
            </a:r>
            <a:endParaRPr lang="en-US" sz="1700" dirty="0"/>
          </a:p>
        </p:txBody>
      </p:sp>
      <p:sp>
        <p:nvSpPr>
          <p:cNvPr id="11" name="method .dtypes desc"/>
          <p:cNvSpPr txBox="1"/>
          <p:nvPr/>
        </p:nvSpPr>
        <p:spPr>
          <a:xfrm>
            <a:off x="2606040" y="3246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het type dat pandas per kolom raadde</a:t>
            </a:r>
            <a:endParaRPr lang="en-US" sz="1500" dirty="0"/>
          </a:p>
        </p:txBody>
      </p:sp>
      <p:sp>
        <p:nvSpPr>
          <p:cNvPr id="12" name="method .info()"/>
          <p:cNvSpPr/>
          <p:nvPr/>
        </p:nvSpPr>
        <p:spPr>
          <a:xfrm>
            <a:off x="548640" y="4114800"/>
            <a:ext cx="53949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method .info() name"/>
          <p:cNvSpPr txBox="1"/>
          <p:nvPr/>
        </p:nvSpPr>
        <p:spPr>
          <a:xfrm>
            <a:off x="777240" y="41148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</a:t>
            </a:r>
            <a:endParaRPr lang="en-US" sz="1700" dirty="0"/>
          </a:p>
        </p:txBody>
      </p:sp>
      <p:sp>
        <p:nvSpPr>
          <p:cNvPr id="14" name="method .info() desc"/>
          <p:cNvSpPr txBox="1"/>
          <p:nvPr/>
        </p:nvSpPr>
        <p:spPr>
          <a:xfrm>
            <a:off x="2606040" y="41148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types, geheugen en aantal niet-lege waarden</a:t>
            </a:r>
            <a:endParaRPr lang="en-US" sz="1500" dirty="0"/>
          </a:p>
        </p:txBody>
      </p:sp>
      <p:sp>
        <p:nvSpPr>
          <p:cNvPr id="15" name="method .describe()"/>
          <p:cNvSpPr/>
          <p:nvPr/>
        </p:nvSpPr>
        <p:spPr>
          <a:xfrm>
            <a:off x="548640" y="4983480"/>
            <a:ext cx="53949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method .describe() name"/>
          <p:cNvSpPr txBox="1"/>
          <p:nvPr/>
        </p:nvSpPr>
        <p:spPr>
          <a:xfrm>
            <a:off x="777240" y="49834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700" dirty="0"/>
          </a:p>
        </p:txBody>
      </p:sp>
      <p:sp>
        <p:nvSpPr>
          <p:cNvPr id="17" name="method .describe() desc"/>
          <p:cNvSpPr txBox="1"/>
          <p:nvPr/>
        </p:nvSpPr>
        <p:spPr>
          <a:xfrm>
            <a:off x="2606040" y="49834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aantal, gemiddelde, spreiding, min / max</a:t>
            </a:r>
            <a:endParaRPr lang="en-US" sz="1500" dirty="0"/>
          </a:p>
        </p:txBody>
      </p:sp>
      <p:sp>
        <p:nvSpPr>
          <p:cNvPr id="18" name="loading code background"/>
          <p:cNvSpPr/>
          <p:nvPr/>
        </p:nvSpPr>
        <p:spPr>
          <a:xfrm>
            <a:off x="6309360" y="150876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19" name="loading code"/>
          <p:cNvSpPr txBox="1"/>
          <p:nvPr/>
        </p:nvSpPr>
        <p:spPr>
          <a:xfrm>
            <a:off x="6583680" y="16916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 = pd.read_csv(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f"{DATA_DIR}/athletes.csv"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athletes_raw.head()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athletes_raw.shape    # (43, 7)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athletes_raw.describe(include="all")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interactieve, sorteerbare tabel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mo.ui.table(athletes_raw, page_size=10)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Filteren brengt het eerste probleem boven</a:t>
            </a:r>
            <a:endParaRPr lang="en-US" sz="3400" dirty="0"/>
          </a:p>
        </p:txBody>
      </p:sp>
      <p:sp>
        <p:nvSpPr>
          <p:cNvPr id="3" name="filtering code background"/>
          <p:cNvSpPr/>
          <p:nvPr/>
        </p:nvSpPr>
        <p:spPr>
          <a:xfrm>
            <a:off x="548640" y="1508760"/>
            <a:ext cx="658368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filtering code"/>
          <p:cNvSpPr txBox="1"/>
          <p:nvPr/>
        </p:nvSpPr>
        <p:spPr>
          <a:xfrm>
            <a:off x="822960" y="169164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kolommen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athletes_raw[["name", "position"]]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rijen: een logische voorwaarde in .loc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athletes_raw.loc[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athletes_raw["position"] == "Forward"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born = pd.to_datetime(athletes_raw["birthdate"])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younger_than_16 = born &gt; "2010-09-01"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tests_raw.sort_values("sprint_30m_s",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ascending=False)</a:t>
            </a:r>
            <a:endParaRPr lang="en-US" sz="1400" dirty="0"/>
          </a:p>
        </p:txBody>
      </p:sp>
      <p:sp>
        <p:nvSpPr>
          <p:cNvPr id="5" name="forward stat card"/>
          <p:cNvSpPr/>
          <p:nvPr/>
        </p:nvSpPr>
        <p:spPr>
          <a:xfrm>
            <a:off x="7498080" y="1508760"/>
            <a:ext cx="4114800" cy="42062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6" name="forward stat"/>
          <p:cNvSpPr txBox="1"/>
          <p:nvPr/>
        </p:nvSpPr>
        <p:spPr>
          <a:xfrm>
            <a:off x="77724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 van 14</a:t>
            </a:r>
            <a:endParaRPr lang="en-US" sz="6000" dirty="0"/>
          </a:p>
        </p:txBody>
      </p:sp>
      <p:sp>
        <p:nvSpPr>
          <p:cNvPr id="7" name="forward stat label"/>
          <p:cNvSpPr txBox="1"/>
          <p:nvPr/>
        </p:nvSpPr>
        <p:spPr>
          <a:xfrm>
            <a:off x="77724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aanvallers hebben exact de schrijfwijze "Forward"</a:t>
            </a:r>
            <a:endParaRPr lang="en-US" sz="1600" dirty="0"/>
          </a:p>
        </p:txBody>
      </p:sp>
      <p:sp>
        <p:nvSpPr>
          <p:cNvPr id="8" name="forward stat body"/>
          <p:cNvSpPr txBox="1"/>
          <p:nvPr/>
        </p:nvSpPr>
        <p:spPr>
          <a:xfrm>
            <a:off x="7772400" y="3703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anderen staan als "forward", "forward " of "FWD". Filteren op tekst werkt pas als de labels opgekuist zijn.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Een nieuwe kolom is gewoon een toewijzing</a:t>
            </a:r>
            <a:endParaRPr lang="en-US" sz="3400" dirty="0"/>
          </a:p>
        </p:txBody>
      </p:sp>
      <p:sp>
        <p:nvSpPr>
          <p:cNvPr id="3" name="new column code background"/>
          <p:cNvSpPr/>
          <p:nvPr/>
        </p:nvSpPr>
        <p:spPr>
          <a:xfrm>
            <a:off x="548640" y="1508760"/>
            <a:ext cx="694944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new column code"/>
          <p:cNvSpPr txBox="1"/>
          <p:nvPr/>
        </p:nvSpPr>
        <p:spPr>
          <a:xfrm>
            <a:off x="822960" y="16916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tekst met een komma -&gt; getal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= (athletes_raw["weight_kg"]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.str.replace(",", ".")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.astype(float))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leeftijd op een vaste referentiedatum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REFERENCE_DATE = pd.Timestamp("2026-09-14")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(REFERENCE_DATE - born).dt.days // 365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snelheid uit een sprinttijd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speed_kmh = 30 / tests_raw["sprint_30m_s"] * 3.6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df["bmi"] = weight / (df["height_cm"] / 100) ** 2</a:t>
            </a:r>
            <a:endParaRPr lang="en-US" sz="1300" dirty="0"/>
          </a:p>
        </p:txBody>
      </p:sp>
      <p:sp>
        <p:nvSpPr>
          <p:cNvPr id="5" name="speed warning circle"/>
          <p:cNvSpPr/>
          <p:nvPr/>
        </p:nvSpPr>
        <p:spPr>
          <a:xfrm>
            <a:off x="790956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peed warning icon" descr="speed 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3870" y="1794510"/>
            <a:ext cx="388620" cy="388620"/>
          </a:xfrm>
          <a:prstGeom prst="rect">
            <a:avLst/>
          </a:prstGeom>
        </p:spPr>
      </p:pic>
      <p:sp>
        <p:nvSpPr>
          <p:cNvPr id="7" name="speed warning text"/>
          <p:cNvSpPr txBox="1"/>
          <p:nvPr/>
        </p:nvSpPr>
        <p:spPr>
          <a:xfrm>
            <a:off x="7909560" y="25603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Meer dan 1000 km/u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 de maximale snelheid die dit oplevert. Een afgeleide kolom is vaak de snelste manier om onmogelijke waarden te vinden.</a:t>
            </a:r>
            <a:endParaRPr lang="en-US" sz="1600" dirty="0"/>
          </a:p>
        </p:txBody>
      </p:sp>
      <p:sp>
        <p:nvSpPr>
          <p:cNvPr id="8" name="comma text"/>
          <p:cNvSpPr txBox="1"/>
          <p:nvPr/>
        </p:nvSpPr>
        <p:spPr>
          <a:xfrm>
            <a:off x="7909560" y="42519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"57,5"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Europese export: het gewicht blijft tekst tot de komma een punt wordt.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13 labels voor 4 posities</a:t>
            </a:r>
            <a:endParaRPr lang="en-US" sz="3400" dirty="0"/>
          </a:p>
        </p:txBody>
      </p:sp>
      <p:graphicFrame>
        <p:nvGraphicFramePr>
          <p:cNvPr id="3" name="raw position labels chart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gend Forward"/>
          <p:cNvSpPr/>
          <p:nvPr/>
        </p:nvSpPr>
        <p:spPr>
          <a:xfrm>
            <a:off x="7772400" y="1673352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legend Forward text"/>
          <p:cNvSpPr txBox="1"/>
          <p:nvPr/>
        </p:nvSpPr>
        <p:spPr>
          <a:xfrm>
            <a:off x="809244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Forward</a:t>
            </a:r>
            <a:endParaRPr lang="en-US" sz="1400" dirty="0"/>
          </a:p>
        </p:txBody>
      </p:sp>
      <p:sp>
        <p:nvSpPr>
          <p:cNvPr id="6" name="legend Midfielder"/>
          <p:cNvSpPr/>
          <p:nvPr/>
        </p:nvSpPr>
        <p:spPr>
          <a:xfrm>
            <a:off x="7772400" y="2057400"/>
            <a:ext cx="201168" cy="20116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" name="legend Midfielder text"/>
          <p:cNvSpPr txBox="1"/>
          <p:nvPr/>
        </p:nvSpPr>
        <p:spPr>
          <a:xfrm>
            <a:off x="8092440" y="1984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Midfielder</a:t>
            </a:r>
            <a:endParaRPr lang="en-US" sz="1400" dirty="0"/>
          </a:p>
        </p:txBody>
      </p:sp>
      <p:sp>
        <p:nvSpPr>
          <p:cNvPr id="8" name="legend Defender"/>
          <p:cNvSpPr/>
          <p:nvPr/>
        </p:nvSpPr>
        <p:spPr>
          <a:xfrm>
            <a:off x="7772400" y="2441448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9" name="legend Defender text"/>
          <p:cNvSpPr txBox="1"/>
          <p:nvPr/>
        </p:nvSpPr>
        <p:spPr>
          <a:xfrm>
            <a:off x="8092440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Defender</a:t>
            </a:r>
            <a:endParaRPr lang="en-US" sz="1400" dirty="0"/>
          </a:p>
        </p:txBody>
      </p:sp>
      <p:sp>
        <p:nvSpPr>
          <p:cNvPr id="10" name="legend Goalkeeper"/>
          <p:cNvSpPr/>
          <p:nvPr/>
        </p:nvSpPr>
        <p:spPr>
          <a:xfrm>
            <a:off x="7772400" y="2825496"/>
            <a:ext cx="201168" cy="201168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1" name="legend Goalkeeper text"/>
          <p:cNvSpPr txBox="1"/>
          <p:nvPr/>
        </p:nvSpPr>
        <p:spPr>
          <a:xfrm>
            <a:off x="8092440" y="2752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Goalkeeper</a:t>
            </a:r>
            <a:endParaRPr lang="en-US" sz="1400" dirty="0"/>
          </a:p>
        </p:txBody>
      </p:sp>
      <p:sp>
        <p:nvSpPr>
          <p:cNvPr id="12" name="position cleaning code background"/>
          <p:cNvSpPr/>
          <p:nvPr/>
        </p:nvSpPr>
        <p:spPr>
          <a:xfrm>
            <a:off x="7772400" y="3291840"/>
            <a:ext cx="384048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3" name="position cleaning code"/>
          <p:cNvSpPr txBox="1"/>
          <p:nvPr/>
        </p:nvSpPr>
        <p:spPr>
          <a:xfrm>
            <a:off x="8046720" y="34747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(athletes_raw["position"]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.str.lower()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.map(POSITION_MAP))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fwd -&gt; Forward, gk -&gt; 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Een gereedschapskist om op te kuisen</a:t>
            </a:r>
            <a:endParaRPr lang="en-US" sz="3400" dirty="0"/>
          </a:p>
        </p:txBody>
      </p:sp>
      <p:sp>
        <p:nvSpPr>
          <p:cNvPr id="3" name="Ontbrekende waarden card"/>
          <p:cNvSpPr/>
          <p:nvPr/>
        </p:nvSpPr>
        <p:spPr>
          <a:xfrm>
            <a:off x="54864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Ontbrekende waarde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Ontbrekende waarden icon" descr="Ontbrekende waard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Ontbrekende waarden title"/>
          <p:cNvSpPr txBox="1"/>
          <p:nvPr/>
        </p:nvSpPr>
        <p:spPr>
          <a:xfrm>
            <a:off x="82296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Ontbrekende waarden</a:t>
            </a:r>
            <a:endParaRPr lang="en-US" sz="1900" dirty="0"/>
          </a:p>
        </p:txBody>
      </p:sp>
      <p:sp>
        <p:nvSpPr>
          <p:cNvPr id="7" name="Ontbrekende waarden desc"/>
          <p:cNvSpPr txBox="1"/>
          <p:nvPr/>
        </p:nvSpPr>
        <p:spPr>
          <a:xfrm>
            <a:off x="822960" y="3520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dropna() of fillna()? Beslis per kolom en verantwoord je keuze.</a:t>
            </a:r>
            <a:endParaRPr lang="en-US" sz="1500" dirty="0"/>
          </a:p>
        </p:txBody>
      </p:sp>
      <p:sp>
        <p:nvSpPr>
          <p:cNvPr id="8" name="Ontbrekende waarden code"/>
          <p:cNvSpPr txBox="1"/>
          <p:nvPr/>
        </p:nvSpPr>
        <p:spPr>
          <a:xfrm>
            <a:off x="82296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isna().sum()</a:t>
            </a:r>
            <a:endParaRPr lang="en-US" sz="1200" dirty="0"/>
          </a:p>
        </p:txBody>
      </p:sp>
      <p:sp>
        <p:nvSpPr>
          <p:cNvPr id="9" name="Tekst card"/>
          <p:cNvSpPr/>
          <p:nvPr/>
        </p:nvSpPr>
        <p:spPr>
          <a:xfrm>
            <a:off x="338328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kst circle"/>
          <p:cNvSpPr/>
          <p:nvPr/>
        </p:nvSpPr>
        <p:spPr>
          <a:xfrm>
            <a:off x="365760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Tekst icon" descr="Tek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965960"/>
            <a:ext cx="365760" cy="365760"/>
          </a:xfrm>
          <a:prstGeom prst="rect">
            <a:avLst/>
          </a:prstGeom>
        </p:spPr>
      </p:pic>
      <p:sp>
        <p:nvSpPr>
          <p:cNvPr id="12" name="Tekst title"/>
          <p:cNvSpPr txBox="1"/>
          <p:nvPr/>
        </p:nvSpPr>
        <p:spPr>
          <a:xfrm>
            <a:off x="365760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Tekst</a:t>
            </a:r>
            <a:endParaRPr lang="en-US" sz="1900" dirty="0"/>
          </a:p>
        </p:txBody>
      </p:sp>
      <p:sp>
        <p:nvSpPr>
          <p:cNvPr id="13" name="Tekst desc"/>
          <p:cNvSpPr txBox="1"/>
          <p:nvPr/>
        </p:nvSpPr>
        <p:spPr>
          <a:xfrm>
            <a:off x="3657600" y="3520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Spaties weg, alles in kleine letters, dan de afkortingen mappen.</a:t>
            </a:r>
            <a:endParaRPr lang="en-US" sz="1500" dirty="0"/>
          </a:p>
        </p:txBody>
      </p:sp>
      <p:sp>
        <p:nvSpPr>
          <p:cNvPr id="14" name="Tekst code"/>
          <p:cNvSpPr txBox="1"/>
          <p:nvPr/>
        </p:nvSpPr>
        <p:spPr>
          <a:xfrm>
            <a:off x="365760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.str.strip().str.lower()</a:t>
            </a:r>
            <a:endParaRPr lang="en-US" sz="1200" dirty="0"/>
          </a:p>
        </p:txBody>
      </p:sp>
      <p:sp>
        <p:nvSpPr>
          <p:cNvPr id="15" name="Eenheden card"/>
          <p:cNvSpPr/>
          <p:nvPr/>
        </p:nvSpPr>
        <p:spPr>
          <a:xfrm>
            <a:off x="621792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Eenheden circle"/>
          <p:cNvSpPr/>
          <p:nvPr/>
        </p:nvSpPr>
        <p:spPr>
          <a:xfrm>
            <a:off x="649224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Eenheden icon" descr="Eenhed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65960"/>
            <a:ext cx="365760" cy="365760"/>
          </a:xfrm>
          <a:prstGeom prst="rect">
            <a:avLst/>
          </a:prstGeom>
        </p:spPr>
      </p:pic>
      <p:sp>
        <p:nvSpPr>
          <p:cNvPr id="18" name="Eenheden title"/>
          <p:cNvSpPr txBox="1"/>
          <p:nvPr/>
        </p:nvSpPr>
        <p:spPr>
          <a:xfrm>
            <a:off x="64922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Eenheden</a:t>
            </a:r>
            <a:endParaRPr lang="en-US" sz="1900" dirty="0"/>
          </a:p>
        </p:txBody>
      </p:sp>
      <p:sp>
        <p:nvSpPr>
          <p:cNvPr id="19" name="Eenheden desc"/>
          <p:cNvSpPr txBox="1"/>
          <p:nvPr/>
        </p:nvSpPr>
        <p:spPr>
          <a:xfrm>
            <a:off x="6492240" y="3520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Boven 20 "seconden" zijn het milliseconden: 12 + 17 sprintwaarden.</a:t>
            </a:r>
            <a:endParaRPr lang="en-US" sz="1500" dirty="0"/>
          </a:p>
        </p:txBody>
      </p:sp>
      <p:sp>
        <p:nvSpPr>
          <p:cNvPr id="20" name="Eenheden code"/>
          <p:cNvSpPr txBox="1"/>
          <p:nvPr/>
        </p:nvSpPr>
        <p:spPr>
          <a:xfrm>
            <a:off x="649224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.where(s &lt; 20, s / 1000)</a:t>
            </a:r>
            <a:endParaRPr lang="en-US" sz="1200" dirty="0"/>
          </a:p>
        </p:txBody>
      </p:sp>
      <p:sp>
        <p:nvSpPr>
          <p:cNvPr id="21" name="Dubbels card"/>
          <p:cNvSpPr/>
          <p:nvPr/>
        </p:nvSpPr>
        <p:spPr>
          <a:xfrm>
            <a:off x="905256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Dubbels circle"/>
          <p:cNvSpPr/>
          <p:nvPr/>
        </p:nvSpPr>
        <p:spPr>
          <a:xfrm>
            <a:off x="9326880" y="1783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Dubbels icon" descr="Dubbe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65960"/>
            <a:ext cx="365760" cy="365760"/>
          </a:xfrm>
          <a:prstGeom prst="rect">
            <a:avLst/>
          </a:prstGeom>
        </p:spPr>
      </p:pic>
      <p:sp>
        <p:nvSpPr>
          <p:cNvPr id="24" name="Dubbels title"/>
          <p:cNvSpPr txBox="1"/>
          <p:nvPr/>
        </p:nvSpPr>
        <p:spPr>
          <a:xfrm>
            <a:off x="932688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Dubbels</a:t>
            </a:r>
            <a:endParaRPr lang="en-US" sz="1900" dirty="0"/>
          </a:p>
        </p:txBody>
      </p:sp>
      <p:sp>
        <p:nvSpPr>
          <p:cNvPr id="25" name="Dubbels desc"/>
          <p:cNvSpPr txBox="1"/>
          <p:nvPr/>
        </p:nvSpPr>
        <p:spPr>
          <a:xfrm>
            <a:off x="9326880" y="3520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Zelfde naam en geboortedatum, twee ID's: hou de eerste rij.</a:t>
            </a:r>
            <a:endParaRPr lang="en-US" sz="1500" dirty="0"/>
          </a:p>
        </p:txBody>
      </p:sp>
      <p:sp>
        <p:nvSpPr>
          <p:cNvPr id="26" name="Dubbels code"/>
          <p:cNvSpPr txBox="1"/>
          <p:nvPr/>
        </p:nvSpPr>
        <p:spPr>
          <a:xfrm>
            <a:off x="93268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drop_duplicates(...)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Oefeningen labo 3</a:t>
            </a:r>
            <a:endParaRPr lang="en-US" sz="3400" dirty="0"/>
          </a:p>
        </p:txBody>
      </p:sp>
      <p:sp>
        <p:nvSpPr>
          <p:cNvPr id="3" name="lab 3 exercises card 1"/>
          <p:cNvSpPr/>
          <p:nvPr/>
        </p:nvSpPr>
        <p:spPr>
          <a:xfrm>
            <a:off x="548640" y="14630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lab 3 exercises number 1"/>
          <p:cNvSpPr/>
          <p:nvPr/>
        </p:nvSpPr>
        <p:spPr>
          <a:xfrm>
            <a:off x="777240" y="18516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lab 3 exercises number text 1"/>
          <p:cNvSpPr txBox="1"/>
          <p:nvPr/>
        </p:nvSpPr>
        <p:spPr>
          <a:xfrm>
            <a:off x="777240" y="1851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lab 3 exercises text 1"/>
          <p:cNvSpPr txBox="1"/>
          <p:nvPr/>
        </p:nvSpPr>
        <p:spPr>
          <a:xfrm>
            <a:off x="1508760" y="16002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tests.csv inladen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read_csv en .shape</a:t>
            </a:r>
            <a:endParaRPr lang="en-US" sz="1600" dirty="0"/>
          </a:p>
        </p:txBody>
      </p:sp>
      <p:sp>
        <p:nvSpPr>
          <p:cNvPr id="7" name="lab 3 exercises card 2"/>
          <p:cNvSpPr/>
          <p:nvPr/>
        </p:nvSpPr>
        <p:spPr>
          <a:xfrm>
            <a:off x="4338218" y="14630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lab 3 exercises number 2"/>
          <p:cNvSpPr/>
          <p:nvPr/>
        </p:nvSpPr>
        <p:spPr>
          <a:xfrm>
            <a:off x="4566818" y="18516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lab 3 exercises number text 2"/>
          <p:cNvSpPr txBox="1"/>
          <p:nvPr/>
        </p:nvSpPr>
        <p:spPr>
          <a:xfrm>
            <a:off x="4566818" y="1851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lab 3 exercises text 2"/>
          <p:cNvSpPr txBox="1"/>
          <p:nvPr/>
        </p:nvSpPr>
        <p:spPr>
          <a:xfrm>
            <a:off x="5298338" y="16002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Aanvallers onder 16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twee voorwaarden combineren</a:t>
            </a:r>
            <a:endParaRPr lang="en-US" sz="1600" dirty="0"/>
          </a:p>
        </p:txBody>
      </p:sp>
      <p:sp>
        <p:nvSpPr>
          <p:cNvPr id="11" name="lab 3 exercises card 3"/>
          <p:cNvSpPr/>
          <p:nvPr/>
        </p:nvSpPr>
        <p:spPr>
          <a:xfrm>
            <a:off x="8127797" y="14630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lab 3 exercises number 3"/>
          <p:cNvSpPr/>
          <p:nvPr/>
        </p:nvSpPr>
        <p:spPr>
          <a:xfrm>
            <a:off x="8356397" y="18516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lab 3 exercises number text 3"/>
          <p:cNvSpPr txBox="1"/>
          <p:nvPr/>
        </p:nvSpPr>
        <p:spPr>
          <a:xfrm>
            <a:off x="8356397" y="1851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lab 3 exercises text 3"/>
          <p:cNvSpPr txBox="1"/>
          <p:nvPr/>
        </p:nvSpPr>
        <p:spPr>
          <a:xfrm>
            <a:off x="9087917" y="16002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Verdachte sprints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filteren op &gt; 20 en sorteren</a:t>
            </a:r>
            <a:endParaRPr lang="en-US" sz="1600" dirty="0"/>
          </a:p>
        </p:txBody>
      </p:sp>
      <p:sp>
        <p:nvSpPr>
          <p:cNvPr id="15" name="lab 3 exercises card 4"/>
          <p:cNvSpPr/>
          <p:nvPr/>
        </p:nvSpPr>
        <p:spPr>
          <a:xfrm>
            <a:off x="548640" y="3063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lab 3 exercises number 4"/>
          <p:cNvSpPr/>
          <p:nvPr/>
        </p:nvSpPr>
        <p:spPr>
          <a:xfrm>
            <a:off x="777240" y="34518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lab 3 exercises number text 4"/>
          <p:cNvSpPr txBox="1"/>
          <p:nvPr/>
        </p:nvSpPr>
        <p:spPr>
          <a:xfrm>
            <a:off x="777240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lab 3 exercises text 4"/>
          <p:cNvSpPr txBox="1"/>
          <p:nvPr/>
        </p:nvSpPr>
        <p:spPr>
          <a:xfrm>
            <a:off x="1508760" y="32004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BMI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een nieuwe kolom uit twee andere</a:t>
            </a:r>
            <a:endParaRPr lang="en-US" sz="1600" dirty="0"/>
          </a:p>
        </p:txBody>
      </p:sp>
      <p:sp>
        <p:nvSpPr>
          <p:cNvPr id="19" name="lab 3 exercises card 5"/>
          <p:cNvSpPr/>
          <p:nvPr/>
        </p:nvSpPr>
        <p:spPr>
          <a:xfrm>
            <a:off x="4338218" y="3063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0" name="lab 3 exercises number 5"/>
          <p:cNvSpPr/>
          <p:nvPr/>
        </p:nvSpPr>
        <p:spPr>
          <a:xfrm>
            <a:off x="4566818" y="34518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lab 3 exercises number text 5"/>
          <p:cNvSpPr txBox="1"/>
          <p:nvPr/>
        </p:nvSpPr>
        <p:spPr>
          <a:xfrm>
            <a:off x="4566818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lab 3 exercises text 5"/>
          <p:cNvSpPr txBox="1"/>
          <p:nvPr/>
        </p:nvSpPr>
        <p:spPr>
          <a:xfrm>
            <a:off x="5298338" y="32004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Leeftijd in jaren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datums en tijdsverschillen</a:t>
            </a:r>
            <a:endParaRPr lang="en-US" sz="1600" dirty="0"/>
          </a:p>
        </p:txBody>
      </p:sp>
      <p:sp>
        <p:nvSpPr>
          <p:cNvPr id="23" name="lab 3 exercises card 6"/>
          <p:cNvSpPr/>
          <p:nvPr/>
        </p:nvSpPr>
        <p:spPr>
          <a:xfrm>
            <a:off x="8127797" y="3063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4" name="lab 3 exercises number 6"/>
          <p:cNvSpPr/>
          <p:nvPr/>
        </p:nvSpPr>
        <p:spPr>
          <a:xfrm>
            <a:off x="8356397" y="34518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lab 3 exercises number text 6"/>
          <p:cNvSpPr txBox="1"/>
          <p:nvPr/>
        </p:nvSpPr>
        <p:spPr>
          <a:xfrm>
            <a:off x="8356397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lab 3 exercises text 6"/>
          <p:cNvSpPr txBox="1"/>
          <p:nvPr/>
        </p:nvSpPr>
        <p:spPr>
          <a:xfrm>
            <a:off x="9087917" y="32004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Posities opkuisen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een kolom vervangen</a:t>
            </a:r>
            <a:endParaRPr lang="en-US" sz="1600" dirty="0"/>
          </a:p>
        </p:txBody>
      </p:sp>
      <p:sp>
        <p:nvSpPr>
          <p:cNvPr id="27" name="lab 3 exercises card 7"/>
          <p:cNvSpPr/>
          <p:nvPr/>
        </p:nvSpPr>
        <p:spPr>
          <a:xfrm>
            <a:off x="548640" y="46634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8" name="lab 3 exercises number 7"/>
          <p:cNvSpPr/>
          <p:nvPr/>
        </p:nvSpPr>
        <p:spPr>
          <a:xfrm>
            <a:off x="777240" y="50520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lab 3 exercises number text 7"/>
          <p:cNvSpPr txBox="1"/>
          <p:nvPr/>
        </p:nvSpPr>
        <p:spPr>
          <a:xfrm>
            <a:off x="777240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lab 3 exercises text 7"/>
          <p:cNvSpPr txBox="1"/>
          <p:nvPr/>
        </p:nvSpPr>
        <p:spPr>
          <a:xfrm>
            <a:off x="1508760" y="48006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Eenheden sprint corrigeren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een hulpfunctie toepassen</a:t>
            </a:r>
            <a:endParaRPr lang="en-US" sz="1600" dirty="0"/>
          </a:p>
        </p:txBody>
      </p:sp>
      <p:sp>
        <p:nvSpPr>
          <p:cNvPr id="31" name="lab 3 exercises card 8"/>
          <p:cNvSpPr/>
          <p:nvPr/>
        </p:nvSpPr>
        <p:spPr>
          <a:xfrm>
            <a:off x="4338218" y="46634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2" name="lab 3 exercises number 8"/>
          <p:cNvSpPr/>
          <p:nvPr/>
        </p:nvSpPr>
        <p:spPr>
          <a:xfrm>
            <a:off x="4566818" y="50520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lab 3 exercises number text 8"/>
          <p:cNvSpPr txBox="1"/>
          <p:nvPr/>
        </p:nvSpPr>
        <p:spPr>
          <a:xfrm>
            <a:off x="4566818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lab 3 exercises text 8"/>
          <p:cNvSpPr txBox="1"/>
          <p:nvPr/>
        </p:nvSpPr>
        <p:spPr>
          <a:xfrm>
            <a:off x="5298338" y="48006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 dubbel verwijderen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drop_duplicates</a:t>
            </a:r>
            <a:endParaRPr lang="en-US" sz="1600" dirty="0"/>
          </a:p>
        </p:txBody>
      </p:sp>
      <p:sp>
        <p:nvSpPr>
          <p:cNvPr id="35" name="lab 3 exercises card 9"/>
          <p:cNvSpPr/>
          <p:nvPr/>
        </p:nvSpPr>
        <p:spPr>
          <a:xfrm>
            <a:off x="8127797" y="46634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36" name="lab 3 exercises number 9"/>
          <p:cNvSpPr/>
          <p:nvPr/>
        </p:nvSpPr>
        <p:spPr>
          <a:xfrm>
            <a:off x="8356397" y="505206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7" name="lab 3 exercises number text 9"/>
          <p:cNvSpPr txBox="1"/>
          <p:nvPr/>
        </p:nvSpPr>
        <p:spPr>
          <a:xfrm>
            <a:off x="8356397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38" name="lab 3 exercises text 9"/>
          <p:cNvSpPr txBox="1"/>
          <p:nvPr/>
        </p:nvSpPr>
        <p:spPr>
          <a:xfrm>
            <a:off x="9087917" y="4800600"/>
            <a:ext cx="2372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Uitdaging: top 5 per positie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merge, beste sprint, sorteren, groupby().head(5)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LABO 4 · DATAVERWERKING II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Combineren, samenvatten, herschikken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57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Aggregeren met groupby en agg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Tabellen koppelen met merge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Herschikken met melt en pivot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Tijdreekskenmerken berekenen: zones, voortschrijdend gemiddelde, hersampling</a:t>
            </a:r>
            <a:endParaRPr lang="en-US" sz="1600" dirty="0"/>
          </a:p>
        </p:txBody>
      </p:sp>
      <p:sp>
        <p:nvSpPr>
          <p:cNvPr id="5" name="lab 4 emblem circle"/>
          <p:cNvSpPr/>
          <p:nvPr/>
        </p:nvSpPr>
        <p:spPr>
          <a:xfrm>
            <a:off x="7863840" y="1737360"/>
            <a:ext cx="3108960" cy="3108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lab 4 emblem icon" descr="lab 4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514600"/>
            <a:ext cx="155448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Labo 4 in één oogopslag</a:t>
            </a:r>
            <a:endParaRPr lang="en-US" sz="3400" dirty="0"/>
          </a:p>
        </p:txBody>
      </p:sp>
      <p:sp>
        <p:nvSpPr>
          <p:cNvPr id="3" name="lab 4 schedule time 1"/>
          <p:cNvSpPr txBox="1"/>
          <p:nvPr/>
        </p:nvSpPr>
        <p:spPr>
          <a:xfrm>
            <a:off x="54864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13:00-13:15</a:t>
            </a:r>
            <a:endParaRPr lang="en-US" sz="1400" dirty="0"/>
          </a:p>
        </p:txBody>
      </p:sp>
      <p:sp>
        <p:nvSpPr>
          <p:cNvPr id="4" name="lab 4 schedule bar 1"/>
          <p:cNvSpPr/>
          <p:nvPr/>
        </p:nvSpPr>
        <p:spPr>
          <a:xfrm>
            <a:off x="2103120" y="1463040"/>
            <a:ext cx="335280" cy="438912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5" name="lab 4 schedule label 1"/>
          <p:cNvSpPr txBox="1"/>
          <p:nvPr/>
        </p:nvSpPr>
        <p:spPr>
          <a:xfrm>
            <a:off x="2621280" y="1463040"/>
            <a:ext cx="9021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Herhaling: herstellen</a:t>
            </a:r>
            <a:endParaRPr lang="en-US" sz="1600" dirty="0"/>
          </a:p>
        </p:txBody>
      </p:sp>
      <p:sp>
        <p:nvSpPr>
          <p:cNvPr id="6" name="lab 4 schedule time 2"/>
          <p:cNvSpPr txBox="1"/>
          <p:nvPr/>
        </p:nvSpPr>
        <p:spPr>
          <a:xfrm>
            <a:off x="548640" y="2011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13:15-14:10</a:t>
            </a:r>
            <a:endParaRPr lang="en-US" sz="1400" dirty="0"/>
          </a:p>
        </p:txBody>
      </p:sp>
      <p:sp>
        <p:nvSpPr>
          <p:cNvPr id="7" name="lab 4 schedule bar 2"/>
          <p:cNvSpPr/>
          <p:nvPr/>
        </p:nvSpPr>
        <p:spPr>
          <a:xfrm>
            <a:off x="2438400" y="2011680"/>
            <a:ext cx="122936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8" name="lab 4 schedule label 2"/>
          <p:cNvSpPr txBox="1"/>
          <p:nvPr/>
        </p:nvSpPr>
        <p:spPr>
          <a:xfrm>
            <a:off x="3850640" y="2011680"/>
            <a:ext cx="7792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groupby + agg</a:t>
            </a:r>
            <a:endParaRPr lang="en-US" sz="1600" dirty="0"/>
          </a:p>
        </p:txBody>
      </p:sp>
      <p:sp>
        <p:nvSpPr>
          <p:cNvPr id="9" name="lab 4 schedule time 3"/>
          <p:cNvSpPr txBox="1"/>
          <p:nvPr/>
        </p:nvSpPr>
        <p:spPr>
          <a:xfrm>
            <a:off x="548640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14:10-14:55</a:t>
            </a:r>
            <a:endParaRPr lang="en-US" sz="1400" dirty="0"/>
          </a:p>
        </p:txBody>
      </p:sp>
      <p:sp>
        <p:nvSpPr>
          <p:cNvPr id="10" name="lab 4 schedule bar 3"/>
          <p:cNvSpPr/>
          <p:nvPr/>
        </p:nvSpPr>
        <p:spPr>
          <a:xfrm>
            <a:off x="3667760" y="2560320"/>
            <a:ext cx="10058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lab 4 schedule label 3"/>
          <p:cNvSpPr txBox="1"/>
          <p:nvPr/>
        </p:nvSpPr>
        <p:spPr>
          <a:xfrm>
            <a:off x="4856480" y="2560320"/>
            <a:ext cx="6786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merge</a:t>
            </a:r>
            <a:endParaRPr lang="en-US" sz="1600" dirty="0"/>
          </a:p>
        </p:txBody>
      </p:sp>
      <p:sp>
        <p:nvSpPr>
          <p:cNvPr id="12" name="lab 4 schedule time 4"/>
          <p:cNvSpPr txBox="1"/>
          <p:nvPr/>
        </p:nvSpPr>
        <p:spPr>
          <a:xfrm>
            <a:off x="54864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14:55-15:10</a:t>
            </a:r>
            <a:endParaRPr lang="en-US" sz="1400" dirty="0"/>
          </a:p>
        </p:txBody>
      </p:sp>
      <p:sp>
        <p:nvSpPr>
          <p:cNvPr id="13" name="lab 4 schedule bar 4"/>
          <p:cNvSpPr/>
          <p:nvPr/>
        </p:nvSpPr>
        <p:spPr>
          <a:xfrm>
            <a:off x="4673600" y="3108960"/>
            <a:ext cx="335280" cy="438912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4" name="lab 4 schedule label 4"/>
          <p:cNvSpPr txBox="1"/>
          <p:nvPr/>
        </p:nvSpPr>
        <p:spPr>
          <a:xfrm>
            <a:off x="5191760" y="3108960"/>
            <a:ext cx="6451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Pauze</a:t>
            </a:r>
            <a:endParaRPr lang="en-US" sz="1600" dirty="0"/>
          </a:p>
        </p:txBody>
      </p:sp>
      <p:sp>
        <p:nvSpPr>
          <p:cNvPr id="15" name="lab 4 schedule time 5"/>
          <p:cNvSpPr txBox="1"/>
          <p:nvPr/>
        </p:nvSpPr>
        <p:spPr>
          <a:xfrm>
            <a:off x="54864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15:10-15:50</a:t>
            </a:r>
            <a:endParaRPr lang="en-US" sz="1400" dirty="0"/>
          </a:p>
        </p:txBody>
      </p:sp>
      <p:sp>
        <p:nvSpPr>
          <p:cNvPr id="16" name="lab 4 schedule bar 5"/>
          <p:cNvSpPr/>
          <p:nvPr/>
        </p:nvSpPr>
        <p:spPr>
          <a:xfrm>
            <a:off x="5008880" y="3657600"/>
            <a:ext cx="8940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7" name="lab 4 schedule label 5"/>
          <p:cNvSpPr txBox="1"/>
          <p:nvPr/>
        </p:nvSpPr>
        <p:spPr>
          <a:xfrm>
            <a:off x="6085840" y="3657600"/>
            <a:ext cx="555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melt &amp; pivot</a:t>
            </a:r>
            <a:endParaRPr lang="en-US" sz="1600" dirty="0"/>
          </a:p>
        </p:txBody>
      </p:sp>
      <p:sp>
        <p:nvSpPr>
          <p:cNvPr id="18" name="lab 4 schedule time 6"/>
          <p:cNvSpPr txBox="1"/>
          <p:nvPr/>
        </p:nvSpPr>
        <p:spPr>
          <a:xfrm>
            <a:off x="548640" y="4206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15:50-16:50</a:t>
            </a:r>
            <a:endParaRPr lang="en-US" sz="1400" dirty="0"/>
          </a:p>
        </p:txBody>
      </p:sp>
      <p:sp>
        <p:nvSpPr>
          <p:cNvPr id="19" name="lab 4 schedule bar 6"/>
          <p:cNvSpPr/>
          <p:nvPr/>
        </p:nvSpPr>
        <p:spPr>
          <a:xfrm>
            <a:off x="5902960" y="4206240"/>
            <a:ext cx="134112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0" name="lab 4 schedule label 6"/>
          <p:cNvSpPr txBox="1"/>
          <p:nvPr/>
        </p:nvSpPr>
        <p:spPr>
          <a:xfrm>
            <a:off x="7426960" y="4206240"/>
            <a:ext cx="42160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Tijdreeksen</a:t>
            </a:r>
            <a:endParaRPr lang="en-US" sz="1600" dirty="0"/>
          </a:p>
        </p:txBody>
      </p:sp>
      <p:sp>
        <p:nvSpPr>
          <p:cNvPr id="21" name="lab 4 schedule time 7"/>
          <p:cNvSpPr txBox="1"/>
          <p:nvPr/>
        </p:nvSpPr>
        <p:spPr>
          <a:xfrm>
            <a:off x="548640" y="4754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16:50-17:30</a:t>
            </a:r>
            <a:endParaRPr lang="en-US" sz="1400" dirty="0"/>
          </a:p>
        </p:txBody>
      </p:sp>
      <p:sp>
        <p:nvSpPr>
          <p:cNvPr id="22" name="lab 4 schedule bar 7"/>
          <p:cNvSpPr/>
          <p:nvPr/>
        </p:nvSpPr>
        <p:spPr>
          <a:xfrm>
            <a:off x="7244080" y="4754880"/>
            <a:ext cx="8940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lab 4 schedule label 7"/>
          <p:cNvSpPr txBox="1"/>
          <p:nvPr/>
        </p:nvSpPr>
        <p:spPr>
          <a:xfrm>
            <a:off x="8321040" y="4754880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Minicase per twee</a:t>
            </a:r>
            <a:endParaRPr lang="en-US" sz="1600" dirty="0"/>
          </a:p>
        </p:txBody>
      </p:sp>
      <p:sp>
        <p:nvSpPr>
          <p:cNvPr id="24" name="lab 4 schedule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Start bewust met een kapotte cel: de studenten herstellen een tikfout en een ontbrekende omzetting van komma naar punt.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groupby: splitsen, toepassen, combineren</a:t>
            </a:r>
            <a:endParaRPr lang="en-US" sz="3400" dirty="0"/>
          </a:p>
        </p:txBody>
      </p:sp>
      <p:sp>
        <p:nvSpPr>
          <p:cNvPr id="3" name="all rows"/>
          <p:cNvSpPr/>
          <p:nvPr/>
        </p:nvSpPr>
        <p:spPr>
          <a:xfrm>
            <a:off x="548640" y="1737360"/>
            <a:ext cx="1463040" cy="35661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all rows label"/>
          <p:cNvSpPr txBox="1"/>
          <p:nvPr/>
        </p:nvSpPr>
        <p:spPr>
          <a:xfrm>
            <a:off x="5486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alle 43 atleten</a:t>
            </a:r>
            <a:endParaRPr lang="en-US" sz="1400" dirty="0"/>
          </a:p>
        </p:txBody>
      </p:sp>
      <p:sp>
        <p:nvSpPr>
          <p:cNvPr id="5" name="split line Forward"/>
          <p:cNvSpPr/>
          <p:nvPr/>
        </p:nvSpPr>
        <p:spPr>
          <a:xfrm>
            <a:off x="2103120" y="3520440"/>
            <a:ext cx="685800" cy="-14173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group Forward"/>
          <p:cNvSpPr/>
          <p:nvPr/>
        </p:nvSpPr>
        <p:spPr>
          <a:xfrm>
            <a:off x="2834640" y="17373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/>
        </p:spPr>
      </p:sp>
      <p:sp>
        <p:nvSpPr>
          <p:cNvPr id="7" name="group Forward label"/>
          <p:cNvSpPr txBox="1"/>
          <p:nvPr/>
        </p:nvSpPr>
        <p:spPr>
          <a:xfrm>
            <a:off x="2834640" y="1737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Forward</a:t>
            </a:r>
            <a:endParaRPr lang="en-US" sz="1400" dirty="0"/>
          </a:p>
        </p:txBody>
      </p:sp>
      <p:sp>
        <p:nvSpPr>
          <p:cNvPr id="8" name="apply arrow Forward"/>
          <p:cNvSpPr/>
          <p:nvPr/>
        </p:nvSpPr>
        <p:spPr>
          <a:xfrm>
            <a:off x="4480560" y="2103120"/>
            <a:ext cx="4114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apply Forward"/>
          <p:cNvSpPr txBox="1"/>
          <p:nvPr/>
        </p:nvSpPr>
        <p:spPr>
          <a:xfrm>
            <a:off x="5029200" y="17373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gemiddelde</a:t>
            </a:r>
            <a:endParaRPr lang="en-US" sz="1300" dirty="0"/>
          </a:p>
        </p:txBody>
      </p:sp>
      <p:sp>
        <p:nvSpPr>
          <p:cNvPr id="10" name="split line Midfielder"/>
          <p:cNvSpPr/>
          <p:nvPr/>
        </p:nvSpPr>
        <p:spPr>
          <a:xfrm>
            <a:off x="2103120" y="3520440"/>
            <a:ext cx="685800" cy="-502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group Midfielder"/>
          <p:cNvSpPr/>
          <p:nvPr/>
        </p:nvSpPr>
        <p:spPr>
          <a:xfrm>
            <a:off x="2834640" y="26517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/>
        </p:spPr>
      </p:sp>
      <p:sp>
        <p:nvSpPr>
          <p:cNvPr id="12" name="group Midfielder label"/>
          <p:cNvSpPr txBox="1"/>
          <p:nvPr/>
        </p:nvSpPr>
        <p:spPr>
          <a:xfrm>
            <a:off x="283464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Midfielder</a:t>
            </a:r>
            <a:endParaRPr lang="en-US" sz="1400" dirty="0"/>
          </a:p>
        </p:txBody>
      </p:sp>
      <p:sp>
        <p:nvSpPr>
          <p:cNvPr id="13" name="apply arrow Midfielder"/>
          <p:cNvSpPr/>
          <p:nvPr/>
        </p:nvSpPr>
        <p:spPr>
          <a:xfrm>
            <a:off x="4480560" y="3017520"/>
            <a:ext cx="4114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apply Midfielder"/>
          <p:cNvSpPr txBox="1"/>
          <p:nvPr/>
        </p:nvSpPr>
        <p:spPr>
          <a:xfrm>
            <a:off x="5029200" y="26517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gemiddelde</a:t>
            </a:r>
            <a:endParaRPr lang="en-US" sz="1300" dirty="0"/>
          </a:p>
        </p:txBody>
      </p:sp>
      <p:sp>
        <p:nvSpPr>
          <p:cNvPr id="15" name="split line Defender"/>
          <p:cNvSpPr/>
          <p:nvPr/>
        </p:nvSpPr>
        <p:spPr>
          <a:xfrm>
            <a:off x="2103120" y="3520440"/>
            <a:ext cx="685800" cy="4114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6" name="group Defender"/>
          <p:cNvSpPr/>
          <p:nvPr/>
        </p:nvSpPr>
        <p:spPr>
          <a:xfrm>
            <a:off x="2834640" y="35661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/>
        </p:spPr>
      </p:sp>
      <p:sp>
        <p:nvSpPr>
          <p:cNvPr id="17" name="group Defender label"/>
          <p:cNvSpPr txBox="1"/>
          <p:nvPr/>
        </p:nvSpPr>
        <p:spPr>
          <a:xfrm>
            <a:off x="283464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Defender</a:t>
            </a:r>
            <a:endParaRPr lang="en-US" sz="1400" dirty="0"/>
          </a:p>
        </p:txBody>
      </p:sp>
      <p:sp>
        <p:nvSpPr>
          <p:cNvPr id="18" name="apply arrow Defender"/>
          <p:cNvSpPr/>
          <p:nvPr/>
        </p:nvSpPr>
        <p:spPr>
          <a:xfrm>
            <a:off x="4480560" y="3931920"/>
            <a:ext cx="4114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apply Defender"/>
          <p:cNvSpPr txBox="1"/>
          <p:nvPr/>
        </p:nvSpPr>
        <p:spPr>
          <a:xfrm>
            <a:off x="5029200" y="35661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gemiddelde</a:t>
            </a:r>
            <a:endParaRPr lang="en-US" sz="1300" dirty="0"/>
          </a:p>
        </p:txBody>
      </p:sp>
      <p:sp>
        <p:nvSpPr>
          <p:cNvPr id="20" name="split line Goalkeeper"/>
          <p:cNvSpPr/>
          <p:nvPr/>
        </p:nvSpPr>
        <p:spPr>
          <a:xfrm>
            <a:off x="2103120" y="3520440"/>
            <a:ext cx="685800" cy="1325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1" name="group Goalkeeper"/>
          <p:cNvSpPr/>
          <p:nvPr/>
        </p:nvSpPr>
        <p:spPr>
          <a:xfrm>
            <a:off x="2834640" y="44805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/>
        </p:spPr>
      </p:sp>
      <p:sp>
        <p:nvSpPr>
          <p:cNvPr id="22" name="group Goalkeeper label"/>
          <p:cNvSpPr txBox="1"/>
          <p:nvPr/>
        </p:nvSpPr>
        <p:spPr>
          <a:xfrm>
            <a:off x="2834640" y="4480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Goalkeeper</a:t>
            </a:r>
            <a:endParaRPr lang="en-US" sz="1400" dirty="0"/>
          </a:p>
        </p:txBody>
      </p:sp>
      <p:sp>
        <p:nvSpPr>
          <p:cNvPr id="23" name="apply arrow Goalkeeper"/>
          <p:cNvSpPr/>
          <p:nvPr/>
        </p:nvSpPr>
        <p:spPr>
          <a:xfrm>
            <a:off x="4480560" y="4846320"/>
            <a:ext cx="4114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apply Goalkeeper"/>
          <p:cNvSpPr txBox="1"/>
          <p:nvPr/>
        </p:nvSpPr>
        <p:spPr>
          <a:xfrm>
            <a:off x="5029200" y="44805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gemiddelde</a:t>
            </a:r>
            <a:endParaRPr lang="en-US" sz="1300" dirty="0"/>
          </a:p>
        </p:txBody>
      </p:sp>
      <p:sp>
        <p:nvSpPr>
          <p:cNvPr id="25" name="groupby code background"/>
          <p:cNvSpPr/>
          <p:nvPr/>
        </p:nvSpPr>
        <p:spPr>
          <a:xfrm>
            <a:off x="6126480" y="1508760"/>
            <a:ext cx="548640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26" name="groupby code"/>
          <p:cNvSpPr txBox="1"/>
          <p:nvPr/>
        </p:nvSpPr>
        <p:spPr>
          <a:xfrm>
            <a:off x="6400800" y="16916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athletes.groupby("position")["age"].mean()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getallen -&gt; categorieën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age_group = pd.cut(age,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bins=[10, 12, 14, 16, 18],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labels=["U13", "U15", "U17", "U19"])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meerdere benoemde statistieken tegelijk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df.groupby(["position", "age_group"],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observed=True).agg(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n_athletes=("athlete_id", "size"),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mean_height_cm=("height_cm", "mean"))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merge werkt - en telt toch dubbel</a:t>
            </a:r>
            <a:endParaRPr lang="en-US" sz="3400" dirty="0"/>
          </a:p>
        </p:txBody>
      </p:sp>
      <p:sp>
        <p:nvSpPr>
          <p:cNvPr id="3" name="inner card"/>
          <p:cNvSpPr/>
          <p:nvPr/>
        </p:nvSpPr>
        <p:spPr>
          <a:xfrm>
            <a:off x="548640" y="1508760"/>
            <a:ext cx="53949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inner text"/>
          <p:cNvSpPr txBox="1"/>
          <p:nvPr/>
        </p:nvSpPr>
        <p:spPr>
          <a:xfrm>
            <a:off x="822960" y="16916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houdt alleen sleutels die in beide tabellen voorkomen.</a:t>
            </a:r>
            <a:endParaRPr lang="en-US" sz="1600" dirty="0"/>
          </a:p>
        </p:txBody>
      </p:sp>
      <p:sp>
        <p:nvSpPr>
          <p:cNvPr id="5" name="left card"/>
          <p:cNvSpPr/>
          <p:nvPr/>
        </p:nvSpPr>
        <p:spPr>
          <a:xfrm>
            <a:off x="548640" y="361188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left text"/>
          <p:cNvSpPr txBox="1"/>
          <p:nvPr/>
        </p:nvSpPr>
        <p:spPr>
          <a:xfrm>
            <a:off x="822960" y="37947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how="left"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houdt elke rij van de linkertabel; ontbrekende matches worden NaN.</a:t>
            </a:r>
            <a:endParaRPr lang="en-US" sz="1600" dirty="0"/>
          </a:p>
        </p:txBody>
      </p:sp>
      <p:sp>
        <p:nvSpPr>
          <p:cNvPr id="7" name="duplicate warning circle"/>
          <p:cNvSpPr/>
          <p:nvPr/>
        </p:nvSpPr>
        <p:spPr>
          <a:xfrm>
            <a:off x="6309360" y="1508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duplicate warning icon" descr="duplicate 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70" y="1703070"/>
            <a:ext cx="388620" cy="388620"/>
          </a:xfrm>
          <a:prstGeom prst="rect">
            <a:avLst/>
          </a:prstGeom>
        </p:spPr>
      </p:pic>
      <p:sp>
        <p:nvSpPr>
          <p:cNvPr id="9" name="duplicate warning text"/>
          <p:cNvSpPr txBox="1"/>
          <p:nvPr/>
        </p:nvSpPr>
        <p:spPr>
          <a:xfrm>
            <a:off x="7269480" y="1508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Eén atleet, twee ID's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join kan niet weten dat het dezelfde persoon is. Verwijder dubbels op identiteit (naam + geboortedatum) vóór de merge, niet erna.</a:t>
            </a:r>
            <a:endParaRPr lang="en-US" sz="1600" dirty="0"/>
          </a:p>
        </p:txBody>
      </p:sp>
      <p:sp>
        <p:nvSpPr>
          <p:cNvPr id="10" name="merge code background"/>
          <p:cNvSpPr/>
          <p:nvPr/>
        </p:nvSpPr>
        <p:spPr>
          <a:xfrm>
            <a:off x="6309360" y="361188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1" name="merge code"/>
          <p:cNvSpPr txBox="1"/>
          <p:nvPr/>
        </p:nvSpPr>
        <p:spPr>
          <a:xfrm>
            <a:off x="6583680" y="37947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= (athletes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.drop_duplicates(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subset=["name", "birthdate"])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.merge(tests, on="athlete_id"))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Lang om te plotten, breed om te vergelijken</a:t>
            </a:r>
            <a:endParaRPr lang="en-US" sz="3400" dirty="0"/>
          </a:p>
        </p:txBody>
      </p:sp>
      <p:graphicFrame>
        <p:nvGraphicFramePr>
          <p:cNvPr id="18" name="lo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athlete_id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5.97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wid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14884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athlete_id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5.97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long caption"/>
          <p:cNvSpPr txBox="1"/>
          <p:nvPr/>
        </p:nvSpPr>
        <p:spPr>
          <a:xfrm>
            <a:off x="5486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lang: één rij per atleet per moment</a:t>
            </a:r>
            <a:endParaRPr lang="en-US" sz="1300" dirty="0"/>
          </a:p>
        </p:txBody>
      </p:sp>
      <p:sp>
        <p:nvSpPr>
          <p:cNvPr id="6" name="wide caption"/>
          <p:cNvSpPr txBox="1"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breed: één rij per atleet</a:t>
            </a:r>
            <a:endParaRPr lang="en-US" sz="1300" dirty="0"/>
          </a:p>
        </p:txBody>
      </p:sp>
      <p:sp>
        <p:nvSpPr>
          <p:cNvPr id="7" name="pivot arrow"/>
          <p:cNvSpPr/>
          <p:nvPr/>
        </p:nvSpPr>
        <p:spPr>
          <a:xfrm>
            <a:off x="4754880" y="2194560"/>
            <a:ext cx="2651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pivot label"/>
          <p:cNvSpPr txBox="1"/>
          <p:nvPr/>
        </p:nvSpPr>
        <p:spPr>
          <a:xfrm>
            <a:off x="475488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endParaRPr lang="en-US" sz="1500" dirty="0"/>
          </a:p>
        </p:txBody>
      </p:sp>
      <p:sp>
        <p:nvSpPr>
          <p:cNvPr id="9" name="melt arrow"/>
          <p:cNvSpPr/>
          <p:nvPr/>
        </p:nvSpPr>
        <p:spPr>
          <a:xfrm>
            <a:off x="4754880" y="3108960"/>
            <a:ext cx="2651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</a:ln>
        </p:spPr>
      </p:sp>
      <p:sp>
        <p:nvSpPr>
          <p:cNvPr id="10" name="melt label"/>
          <p:cNvSpPr txBox="1"/>
          <p:nvPr/>
        </p:nvSpPr>
        <p:spPr>
          <a:xfrm>
            <a:off x="47548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endParaRPr lang="en-US" sz="1500" dirty="0"/>
          </a:p>
        </p:txBody>
      </p:sp>
      <p:sp>
        <p:nvSpPr>
          <p:cNvPr id="11" name="pivot code background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2" name="pivot code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= combined.pivot_table(index="athlete_id", columns="test_moment", values="sprint_30m_s")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 = wide[2] - wide[1]          # negatief = sneller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Het grootste deel van de training zat in zone 4</a:t>
            </a:r>
            <a:endParaRPr lang="en-US" sz="3400" dirty="0"/>
          </a:p>
        </p:txBody>
      </p:sp>
      <p:graphicFrame>
        <p:nvGraphicFramePr>
          <p:cNvPr id="3" name="zone minutes chart" descr=""/>
          <p:cNvGraphicFramePr/>
          <p:nvPr/>
        </p:nvGraphicFramePr>
        <p:xfrm>
          <a:off x="548640" y="137160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zone code background"/>
          <p:cNvSpPr/>
          <p:nvPr/>
        </p:nvSpPr>
        <p:spPr>
          <a:xfrm>
            <a:off x="7863840" y="1508760"/>
            <a:ext cx="3749040" cy="42062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5" name="zone code"/>
          <p:cNvSpPr txBox="1"/>
          <p:nvPr/>
        </p:nvSpPr>
        <p:spPr>
          <a:xfrm>
            <a:off x="8138160" y="16916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hr_max = 220 - 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100 * hr / hr_max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= pd.cut(pct,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bins=[0,60,70,80,90,1000])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rij = 1 seconde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(df.groupby(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["athlete_id", "hr_zone"])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.size() / 60)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s.rolling("30s").mean()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s.resample("1min").mean()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Oefeningen labo 4</a:t>
            </a:r>
            <a:endParaRPr lang="en-US" sz="3400" dirty="0"/>
          </a:p>
        </p:txBody>
      </p:sp>
      <p:sp>
        <p:nvSpPr>
          <p:cNvPr id="3" name="lab 4 exercises card 1"/>
          <p:cNvSpPr/>
          <p:nvPr/>
        </p:nvSpPr>
        <p:spPr>
          <a:xfrm>
            <a:off x="548640" y="146304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lab 4 exercises number 1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lab 4 exercises number text 1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</a:t>
            </a:r>
            <a:endParaRPr lang="en-US" sz="1600" dirty="0"/>
          </a:p>
        </p:txBody>
      </p:sp>
      <p:sp>
        <p:nvSpPr>
          <p:cNvPr id="6" name="lab 4 exercises text 1"/>
          <p:cNvSpPr txBox="1"/>
          <p:nvPr/>
        </p:nvSpPr>
        <p:spPr>
          <a:xfrm>
            <a:off x="1508760" y="160020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Herhaling: herstellen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kapotte opkuiscel repareren</a:t>
            </a:r>
            <a:endParaRPr lang="en-US" sz="1600" dirty="0"/>
          </a:p>
        </p:txBody>
      </p:sp>
      <p:sp>
        <p:nvSpPr>
          <p:cNvPr id="7" name="lab 4 exercises card 2"/>
          <p:cNvSpPr/>
          <p:nvPr/>
        </p:nvSpPr>
        <p:spPr>
          <a:xfrm>
            <a:off x="4338218" y="146304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lab 4 exercises number 2"/>
          <p:cNvSpPr/>
          <p:nvPr/>
        </p:nvSpPr>
        <p:spPr>
          <a:xfrm>
            <a:off x="4566818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lab 4 exercises number text 2"/>
          <p:cNvSpPr txBox="1"/>
          <p:nvPr/>
        </p:nvSpPr>
        <p:spPr>
          <a:xfrm>
            <a:off x="456681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lab 4 exercises text 2"/>
          <p:cNvSpPr txBox="1"/>
          <p:nvPr/>
        </p:nvSpPr>
        <p:spPr>
          <a:xfrm>
            <a:off x="5298338" y="160020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Geslacht × leeftijdscategorie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groupby op twee sleutels + agg</a:t>
            </a:r>
            <a:endParaRPr lang="en-US" sz="1600" dirty="0"/>
          </a:p>
        </p:txBody>
      </p:sp>
      <p:sp>
        <p:nvSpPr>
          <p:cNvPr id="11" name="lab 4 exercises card 3"/>
          <p:cNvSpPr/>
          <p:nvPr/>
        </p:nvSpPr>
        <p:spPr>
          <a:xfrm>
            <a:off x="8127797" y="146304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lab 4 exercises number 3"/>
          <p:cNvSpPr/>
          <p:nvPr/>
        </p:nvSpPr>
        <p:spPr>
          <a:xfrm>
            <a:off x="8356397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lab 4 exercises number text 3"/>
          <p:cNvSpPr txBox="1"/>
          <p:nvPr/>
        </p:nvSpPr>
        <p:spPr>
          <a:xfrm>
            <a:off x="8356397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lab 4 exercises text 3"/>
          <p:cNvSpPr txBox="1"/>
          <p:nvPr/>
        </p:nvSpPr>
        <p:spPr>
          <a:xfrm>
            <a:off x="9087917" y="160020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Kost van ontdubbelen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rijen verloren na drop_duplicates</a:t>
            </a:r>
            <a:endParaRPr lang="en-US" sz="1600" dirty="0"/>
          </a:p>
        </p:txBody>
      </p:sp>
      <p:sp>
        <p:nvSpPr>
          <p:cNvPr id="15" name="lab 4 exercises card 4"/>
          <p:cNvSpPr/>
          <p:nvPr/>
        </p:nvSpPr>
        <p:spPr>
          <a:xfrm>
            <a:off x="548640" y="356616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lab 4 exercises number 4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lab 4 exercises number text 4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lab 4 exercises text 4"/>
          <p:cNvSpPr txBox="1"/>
          <p:nvPr/>
        </p:nvSpPr>
        <p:spPr>
          <a:xfrm>
            <a:off x="1508760" y="370332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Vooruitgang sprong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pivot_table, dan aftrekken</a:t>
            </a:r>
            <a:endParaRPr lang="en-US" sz="1600" dirty="0"/>
          </a:p>
        </p:txBody>
      </p:sp>
      <p:sp>
        <p:nvSpPr>
          <p:cNvPr id="19" name="lab 4 exercises card 5"/>
          <p:cNvSpPr/>
          <p:nvPr/>
        </p:nvSpPr>
        <p:spPr>
          <a:xfrm>
            <a:off x="4338218" y="356616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lab 4 exercises number 5"/>
          <p:cNvSpPr/>
          <p:nvPr/>
        </p:nvSpPr>
        <p:spPr>
          <a:xfrm>
            <a:off x="4566818" y="4206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lab 4 exercises number text 5"/>
          <p:cNvSpPr txBox="1"/>
          <p:nvPr/>
        </p:nvSpPr>
        <p:spPr>
          <a:xfrm>
            <a:off x="456681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lab 4 exercises text 5"/>
          <p:cNvSpPr txBox="1"/>
          <p:nvPr/>
        </p:nvSpPr>
        <p:spPr>
          <a:xfrm>
            <a:off x="5298338" y="370332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Minuten in zone 4-5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filteren, groupby, tellen / 60</a:t>
            </a:r>
            <a:endParaRPr lang="en-US" sz="1600" dirty="0"/>
          </a:p>
        </p:txBody>
      </p:sp>
      <p:sp>
        <p:nvSpPr>
          <p:cNvPr id="23" name="lab 4 exercises card 6"/>
          <p:cNvSpPr/>
          <p:nvPr/>
        </p:nvSpPr>
        <p:spPr>
          <a:xfrm>
            <a:off x="8127797" y="356616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24" name="lab 4 exercises number 6"/>
          <p:cNvSpPr/>
          <p:nvPr/>
        </p:nvSpPr>
        <p:spPr>
          <a:xfrm>
            <a:off x="8356397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lab 4 exercises number text 6"/>
          <p:cNvSpPr txBox="1"/>
          <p:nvPr/>
        </p:nvSpPr>
        <p:spPr>
          <a:xfrm>
            <a:off x="8356397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26" name="lab 4 exercises text 6"/>
          <p:cNvSpPr txBox="1"/>
          <p:nvPr/>
        </p:nvSpPr>
        <p:spPr>
          <a:xfrm>
            <a:off x="9087917" y="3703320"/>
            <a:ext cx="2372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Minicase: trainingsrapport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per atleet: minuten in zone 4-5, topsnelheid, afstand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LABO 5 · DATAVISUALISATIE I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Vertel het verhaal met plotly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57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Een grafiektype kiezen voor een vraag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 standaardgrafieken van plotly express maken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Dimensies toevoegen met kleur, facetten en grootte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Interactiviteit inbouwen in marimo</a:t>
            </a:r>
            <a:endParaRPr lang="en-US" sz="1600" dirty="0"/>
          </a:p>
        </p:txBody>
      </p:sp>
      <p:sp>
        <p:nvSpPr>
          <p:cNvPr id="5" name="lab 5 emblem circle"/>
          <p:cNvSpPr/>
          <p:nvPr/>
        </p:nvSpPr>
        <p:spPr>
          <a:xfrm>
            <a:off x="7863840" y="1737360"/>
            <a:ext cx="3108960" cy="3108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lab 5 emblem icon" descr="lab 5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514600"/>
            <a:ext cx="155448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Labo 5 in één oogopslag</a:t>
            </a:r>
            <a:endParaRPr lang="en-US" sz="3400" dirty="0"/>
          </a:p>
        </p:txBody>
      </p:sp>
      <p:sp>
        <p:nvSpPr>
          <p:cNvPr id="3" name="lab 5 schedule time 1"/>
          <p:cNvSpPr txBox="1"/>
          <p:nvPr/>
        </p:nvSpPr>
        <p:spPr>
          <a:xfrm>
            <a:off x="54864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13:00-13:30</a:t>
            </a:r>
            <a:endParaRPr lang="en-US" sz="1400" dirty="0"/>
          </a:p>
        </p:txBody>
      </p:sp>
      <p:sp>
        <p:nvSpPr>
          <p:cNvPr id="4" name="lab 5 schedule bar 1"/>
          <p:cNvSpPr/>
          <p:nvPr/>
        </p:nvSpPr>
        <p:spPr>
          <a:xfrm>
            <a:off x="2103120" y="1463040"/>
            <a:ext cx="67056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5" name="lab 5 schedule label 1"/>
          <p:cNvSpPr txBox="1"/>
          <p:nvPr/>
        </p:nvSpPr>
        <p:spPr>
          <a:xfrm>
            <a:off x="2956560" y="1463040"/>
            <a:ext cx="8686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Principes</a:t>
            </a:r>
            <a:endParaRPr lang="en-US" sz="1600" dirty="0"/>
          </a:p>
        </p:txBody>
      </p:sp>
      <p:sp>
        <p:nvSpPr>
          <p:cNvPr id="6" name="lab 5 schedule time 2"/>
          <p:cNvSpPr txBox="1"/>
          <p:nvPr/>
        </p:nvSpPr>
        <p:spPr>
          <a:xfrm>
            <a:off x="548640" y="2011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13:30-14:30</a:t>
            </a:r>
            <a:endParaRPr lang="en-US" sz="1400" dirty="0"/>
          </a:p>
        </p:txBody>
      </p:sp>
      <p:sp>
        <p:nvSpPr>
          <p:cNvPr id="7" name="lab 5 schedule bar 2"/>
          <p:cNvSpPr/>
          <p:nvPr/>
        </p:nvSpPr>
        <p:spPr>
          <a:xfrm>
            <a:off x="2773680" y="2011680"/>
            <a:ext cx="134112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8" name="lab 5 schedule label 2"/>
          <p:cNvSpPr txBox="1"/>
          <p:nvPr/>
        </p:nvSpPr>
        <p:spPr>
          <a:xfrm>
            <a:off x="4297680" y="2011680"/>
            <a:ext cx="73453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Basis van plotly express</a:t>
            </a:r>
            <a:endParaRPr lang="en-US" sz="1600" dirty="0"/>
          </a:p>
        </p:txBody>
      </p:sp>
      <p:sp>
        <p:nvSpPr>
          <p:cNvPr id="9" name="lab 5 schedule time 3"/>
          <p:cNvSpPr txBox="1"/>
          <p:nvPr/>
        </p:nvSpPr>
        <p:spPr>
          <a:xfrm>
            <a:off x="548640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14:30-15:15</a:t>
            </a:r>
            <a:endParaRPr lang="en-US" sz="1400" dirty="0"/>
          </a:p>
        </p:txBody>
      </p:sp>
      <p:sp>
        <p:nvSpPr>
          <p:cNvPr id="10" name="lab 5 schedule bar 3"/>
          <p:cNvSpPr/>
          <p:nvPr/>
        </p:nvSpPr>
        <p:spPr>
          <a:xfrm>
            <a:off x="4114800" y="2560320"/>
            <a:ext cx="10058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lab 5 schedule label 3"/>
          <p:cNvSpPr txBox="1"/>
          <p:nvPr/>
        </p:nvSpPr>
        <p:spPr>
          <a:xfrm>
            <a:off x="5303520" y="2560320"/>
            <a:ext cx="6339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Kleur, facet, grootte</a:t>
            </a:r>
            <a:endParaRPr lang="en-US" sz="1600" dirty="0"/>
          </a:p>
        </p:txBody>
      </p:sp>
      <p:sp>
        <p:nvSpPr>
          <p:cNvPr id="12" name="lab 5 schedule time 4"/>
          <p:cNvSpPr txBox="1"/>
          <p:nvPr/>
        </p:nvSpPr>
        <p:spPr>
          <a:xfrm>
            <a:off x="54864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15:15-15:30</a:t>
            </a:r>
            <a:endParaRPr lang="en-US" sz="1400" dirty="0"/>
          </a:p>
        </p:txBody>
      </p:sp>
      <p:sp>
        <p:nvSpPr>
          <p:cNvPr id="13" name="lab 5 schedule bar 4"/>
          <p:cNvSpPr/>
          <p:nvPr/>
        </p:nvSpPr>
        <p:spPr>
          <a:xfrm>
            <a:off x="5120640" y="3108960"/>
            <a:ext cx="335280" cy="438912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4" name="lab 5 schedule label 4"/>
          <p:cNvSpPr txBox="1"/>
          <p:nvPr/>
        </p:nvSpPr>
        <p:spPr>
          <a:xfrm>
            <a:off x="5638800" y="3108960"/>
            <a:ext cx="60042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Pauze</a:t>
            </a:r>
            <a:endParaRPr lang="en-US" sz="1600" dirty="0"/>
          </a:p>
        </p:txBody>
      </p:sp>
      <p:sp>
        <p:nvSpPr>
          <p:cNvPr id="15" name="lab 5 schedule time 5"/>
          <p:cNvSpPr txBox="1"/>
          <p:nvPr/>
        </p:nvSpPr>
        <p:spPr>
          <a:xfrm>
            <a:off x="54864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15:30-16:15</a:t>
            </a:r>
            <a:endParaRPr lang="en-US" sz="1400" dirty="0"/>
          </a:p>
        </p:txBody>
      </p:sp>
      <p:sp>
        <p:nvSpPr>
          <p:cNvPr id="16" name="lab 5 schedule bar 5"/>
          <p:cNvSpPr/>
          <p:nvPr/>
        </p:nvSpPr>
        <p:spPr>
          <a:xfrm>
            <a:off x="5455920" y="3657600"/>
            <a:ext cx="100584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7" name="lab 5 schedule label 5"/>
          <p:cNvSpPr txBox="1"/>
          <p:nvPr/>
        </p:nvSpPr>
        <p:spPr>
          <a:xfrm>
            <a:off x="6644640" y="3657600"/>
            <a:ext cx="4998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Hartslagzones als banden</a:t>
            </a:r>
            <a:endParaRPr lang="en-US" sz="1600" dirty="0"/>
          </a:p>
        </p:txBody>
      </p:sp>
      <p:sp>
        <p:nvSpPr>
          <p:cNvPr id="18" name="lab 5 schedule time 6"/>
          <p:cNvSpPr txBox="1"/>
          <p:nvPr/>
        </p:nvSpPr>
        <p:spPr>
          <a:xfrm>
            <a:off x="548640" y="4206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16:15-16:45</a:t>
            </a:r>
            <a:endParaRPr lang="en-US" sz="1400" dirty="0"/>
          </a:p>
        </p:txBody>
      </p:sp>
      <p:sp>
        <p:nvSpPr>
          <p:cNvPr id="19" name="lab 5 schedule bar 6"/>
          <p:cNvSpPr/>
          <p:nvPr/>
        </p:nvSpPr>
        <p:spPr>
          <a:xfrm>
            <a:off x="6461760" y="4206240"/>
            <a:ext cx="67056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0" name="lab 5 schedule label 6"/>
          <p:cNvSpPr txBox="1"/>
          <p:nvPr/>
        </p:nvSpPr>
        <p:spPr>
          <a:xfrm>
            <a:off x="7315200" y="420624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Interactiviteit</a:t>
            </a:r>
            <a:endParaRPr lang="en-US" sz="1600" dirty="0"/>
          </a:p>
        </p:txBody>
      </p:sp>
      <p:sp>
        <p:nvSpPr>
          <p:cNvPr id="21" name="lab 5 schedule time 7"/>
          <p:cNvSpPr txBox="1"/>
          <p:nvPr/>
        </p:nvSpPr>
        <p:spPr>
          <a:xfrm>
            <a:off x="548640" y="4754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16:45-17:30</a:t>
            </a:r>
            <a:endParaRPr lang="en-US" sz="1400" dirty="0"/>
          </a:p>
        </p:txBody>
      </p:sp>
      <p:sp>
        <p:nvSpPr>
          <p:cNvPr id="22" name="lab 5 schedule bar 7"/>
          <p:cNvSpPr/>
          <p:nvPr/>
        </p:nvSpPr>
        <p:spPr>
          <a:xfrm>
            <a:off x="7132320" y="4754880"/>
            <a:ext cx="100584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lab 5 schedule label 7"/>
          <p:cNvSpPr txBox="1"/>
          <p:nvPr/>
        </p:nvSpPr>
        <p:spPr>
          <a:xfrm>
            <a:off x="8321040" y="4754880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Minidashboard</a:t>
            </a:r>
            <a:endParaRPr lang="en-US" sz="1600" dirty="0"/>
          </a:p>
        </p:txBody>
      </p:sp>
      <p:sp>
        <p:nvSpPr>
          <p:cNvPr id="24" name="lab 5 schedule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Eén kleur per positie, vooraf vastgelegd en in elke grafiek hergebruikt.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Vertrek van de vraag, niet van de grafiek</a:t>
            </a:r>
            <a:endParaRPr lang="en-US" sz="3400" dirty="0"/>
          </a:p>
        </p:txBody>
      </p:sp>
      <p:sp>
        <p:nvSpPr>
          <p:cNvPr id="3" name="Verdeling card"/>
          <p:cNvSpPr/>
          <p:nvPr/>
        </p:nvSpPr>
        <p:spPr>
          <a:xfrm>
            <a:off x="54864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Verdeling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5" name="Verdeling icon" descr="Verde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Verdeling title"/>
          <p:cNvSpPr txBox="1"/>
          <p:nvPr/>
        </p:nvSpPr>
        <p:spPr>
          <a:xfrm>
            <a:off x="8229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Verdeling</a:t>
            </a:r>
            <a:endParaRPr lang="en-US" sz="1900" dirty="0"/>
          </a:p>
        </p:txBody>
      </p:sp>
      <p:sp>
        <p:nvSpPr>
          <p:cNvPr id="7" name="Verdeling question"/>
          <p:cNvSpPr txBox="1"/>
          <p:nvPr/>
        </p:nvSpPr>
        <p:spPr>
          <a:xfrm>
            <a:off x="822960" y="3200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Hoe zijn de sprinttijden gespreid?</a:t>
            </a:r>
            <a:endParaRPr lang="en-US" sz="1500" dirty="0"/>
          </a:p>
        </p:txBody>
      </p:sp>
      <p:sp>
        <p:nvSpPr>
          <p:cNvPr id="8" name="Verdeling chart"/>
          <p:cNvSpPr txBox="1"/>
          <p:nvPr/>
        </p:nvSpPr>
        <p:spPr>
          <a:xfrm>
            <a:off x="82296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histogram · boxplot</a:t>
            </a:r>
            <a:endParaRPr lang="en-US" sz="1500" dirty="0"/>
          </a:p>
        </p:txBody>
      </p:sp>
      <p:sp>
        <p:nvSpPr>
          <p:cNvPr id="9" name="Vergelijking card"/>
          <p:cNvSpPr/>
          <p:nvPr/>
        </p:nvSpPr>
        <p:spPr>
          <a:xfrm>
            <a:off x="338328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Vergelijking circle"/>
          <p:cNvSpPr/>
          <p:nvPr/>
        </p:nvSpPr>
        <p:spPr>
          <a:xfrm>
            <a:off x="3657600" y="1783080"/>
            <a:ext cx="731520" cy="73152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11" name="Vergelijking icon" descr="Vergelij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965960"/>
            <a:ext cx="365760" cy="365760"/>
          </a:xfrm>
          <a:prstGeom prst="rect">
            <a:avLst/>
          </a:prstGeom>
        </p:spPr>
      </p:pic>
      <p:sp>
        <p:nvSpPr>
          <p:cNvPr id="12" name="Vergelijking title"/>
          <p:cNvSpPr txBox="1"/>
          <p:nvPr/>
        </p:nvSpPr>
        <p:spPr>
          <a:xfrm>
            <a:off x="365760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Vergelijking</a:t>
            </a:r>
            <a:endParaRPr lang="en-US" sz="1900" dirty="0"/>
          </a:p>
        </p:txBody>
      </p:sp>
      <p:sp>
        <p:nvSpPr>
          <p:cNvPr id="13" name="Vergelijking question"/>
          <p:cNvSpPr txBox="1"/>
          <p:nvPr/>
        </p:nvSpPr>
        <p:spPr>
          <a:xfrm>
            <a:off x="3657600" y="3200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Welke positie springt het hoogst?</a:t>
            </a:r>
            <a:endParaRPr lang="en-US" sz="1500" dirty="0"/>
          </a:p>
        </p:txBody>
      </p:sp>
      <p:sp>
        <p:nvSpPr>
          <p:cNvPr id="14" name="Vergelijking chart"/>
          <p:cNvSpPr txBox="1"/>
          <p:nvPr/>
        </p:nvSpPr>
        <p:spPr>
          <a:xfrm>
            <a:off x="365760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staaf · boxplot</a:t>
            </a:r>
            <a:endParaRPr lang="en-US" sz="1500" dirty="0"/>
          </a:p>
        </p:txBody>
      </p:sp>
      <p:sp>
        <p:nvSpPr>
          <p:cNvPr id="15" name="Verband card"/>
          <p:cNvSpPr/>
          <p:nvPr/>
        </p:nvSpPr>
        <p:spPr>
          <a:xfrm>
            <a:off x="621792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Verband circle"/>
          <p:cNvSpPr/>
          <p:nvPr/>
        </p:nvSpPr>
        <p:spPr>
          <a:xfrm>
            <a:off x="6492240" y="1783080"/>
            <a:ext cx="731520" cy="731520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17" name="Verband icon" descr="Verb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65960"/>
            <a:ext cx="365760" cy="365760"/>
          </a:xfrm>
          <a:prstGeom prst="rect">
            <a:avLst/>
          </a:prstGeom>
        </p:spPr>
      </p:pic>
      <p:sp>
        <p:nvSpPr>
          <p:cNvPr id="18" name="Verband title"/>
          <p:cNvSpPr txBox="1"/>
          <p:nvPr/>
        </p:nvSpPr>
        <p:spPr>
          <a:xfrm>
            <a:off x="649224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Verband</a:t>
            </a:r>
            <a:endParaRPr lang="en-US" sz="1900" dirty="0"/>
          </a:p>
        </p:txBody>
      </p:sp>
      <p:sp>
        <p:nvSpPr>
          <p:cNvPr id="19" name="Verband question"/>
          <p:cNvSpPr txBox="1"/>
          <p:nvPr/>
        </p:nvSpPr>
        <p:spPr>
          <a:xfrm>
            <a:off x="6492240" y="3200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Betekent een snellere sprint een hogere sprong?</a:t>
            </a:r>
            <a:endParaRPr lang="en-US" sz="1500" dirty="0"/>
          </a:p>
        </p:txBody>
      </p:sp>
      <p:sp>
        <p:nvSpPr>
          <p:cNvPr id="20" name="Verband chart"/>
          <p:cNvSpPr txBox="1"/>
          <p:nvPr/>
        </p:nvSpPr>
        <p:spPr>
          <a:xfrm>
            <a:off x="649224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spreidingsdiagram</a:t>
            </a:r>
            <a:endParaRPr lang="en-US" sz="1500" dirty="0"/>
          </a:p>
        </p:txBody>
      </p:sp>
      <p:sp>
        <p:nvSpPr>
          <p:cNvPr id="21" name="Evolutie card"/>
          <p:cNvSpPr/>
          <p:nvPr/>
        </p:nvSpPr>
        <p:spPr>
          <a:xfrm>
            <a:off x="9052560" y="150876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Evolutie circle"/>
          <p:cNvSpPr/>
          <p:nvPr/>
        </p:nvSpPr>
        <p:spPr>
          <a:xfrm>
            <a:off x="9326880" y="1783080"/>
            <a:ext cx="731520" cy="731520"/>
          </a:xfrm>
          <a:prstGeom prst="ellipse">
            <a:avLst/>
          </a:prstGeom>
          <a:solidFill>
            <a:srgbClr val="EDA100"/>
          </a:solidFill>
          <a:ln/>
        </p:spPr>
      </p:sp>
      <p:pic>
        <p:nvPicPr>
          <p:cNvPr id="23" name="Evolutie icon" descr="Evoluti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65960"/>
            <a:ext cx="365760" cy="365760"/>
          </a:xfrm>
          <a:prstGeom prst="rect">
            <a:avLst/>
          </a:prstGeom>
        </p:spPr>
      </p:pic>
      <p:sp>
        <p:nvSpPr>
          <p:cNvPr id="24" name="Evolutie title"/>
          <p:cNvSpPr txBox="1"/>
          <p:nvPr/>
        </p:nvSpPr>
        <p:spPr>
          <a:xfrm>
            <a:off x="93268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Evolutie</a:t>
            </a:r>
            <a:endParaRPr lang="en-US" sz="1900" dirty="0"/>
          </a:p>
        </p:txBody>
      </p:sp>
      <p:sp>
        <p:nvSpPr>
          <p:cNvPr id="25" name="Evolutie question"/>
          <p:cNvSpPr txBox="1"/>
          <p:nvPr/>
        </p:nvSpPr>
        <p:spPr>
          <a:xfrm>
            <a:off x="9326880" y="3200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Stijgt deze hartslag?</a:t>
            </a:r>
            <a:endParaRPr lang="en-US" sz="1500" dirty="0"/>
          </a:p>
        </p:txBody>
      </p:sp>
      <p:sp>
        <p:nvSpPr>
          <p:cNvPr id="26" name="Evolutie chart"/>
          <p:cNvSpPr txBox="1"/>
          <p:nvPr/>
        </p:nvSpPr>
        <p:spPr>
          <a:xfrm>
            <a:off x="932688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lijn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Dezelfde data, twee heel andere verhalen</a:t>
            </a:r>
            <a:endParaRPr lang="en-US" sz="3400" dirty="0"/>
          </a:p>
        </p:txBody>
      </p:sp>
      <p:graphicFrame>
        <p:nvGraphicFramePr>
          <p:cNvPr id="3" name="honest chart" descr=""/>
          <p:cNvGraphicFramePr/>
          <p:nvPr/>
        </p:nvGraphicFramePr>
        <p:xfrm>
          <a:off x="548640" y="13716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misleading chart" descr=""/>
          <p:cNvGraphicFramePr/>
          <p:nvPr/>
        </p:nvGraphicFramePr>
        <p:xfrm>
          <a:off x="6217920" y="13716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runcation takeaway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Een verschil van 0,3 s lijkt een kloof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zodra de y-as niet meer bij nul begint. Staven tonen een grootte met hun lengte, dus hun basislijn moet 0 zijn.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Elke plotly express-grafiek heeft dezelfde vorm</a:t>
            </a:r>
            <a:endParaRPr lang="en-US" sz="3400" dirty="0"/>
          </a:p>
        </p:txBody>
      </p:sp>
      <p:sp>
        <p:nvSpPr>
          <p:cNvPr id="3" name="plotly code background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plotly code"/>
          <p:cNvSpPr txBox="1"/>
          <p:nvPr/>
        </p:nvSpPr>
        <p:spPr>
          <a:xfrm>
            <a:off x="822960" y="1691640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px.scatter(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combined,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x="sprint_30m_s",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y="cmj_height_cm",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color="position",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color_discrete_map=POSITION_COLORS,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facet_col="gender",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size="weight_kg",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title="Sprint vs. spronghoogte",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labels={"sprint_30m_s": "Sprint 30 m (s)"},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hover_data=["name"],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5" name="dim dot x, y"/>
          <p:cNvSpPr/>
          <p:nvPr/>
        </p:nvSpPr>
        <p:spPr>
          <a:xfrm>
            <a:off x="7680960" y="1664208"/>
            <a:ext cx="329184" cy="32918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dim x, y"/>
          <p:cNvSpPr txBox="1"/>
          <p:nvPr/>
        </p:nvSpPr>
        <p:spPr>
          <a:xfrm>
            <a:off x="8183880" y="1554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positie op de assen</a:t>
            </a:r>
            <a:endParaRPr lang="en-US" sz="1600" dirty="0"/>
          </a:p>
        </p:txBody>
      </p:sp>
      <p:sp>
        <p:nvSpPr>
          <p:cNvPr id="7" name="dim dot color"/>
          <p:cNvSpPr/>
          <p:nvPr/>
        </p:nvSpPr>
        <p:spPr>
          <a:xfrm>
            <a:off x="7680960" y="2505456"/>
            <a:ext cx="329184" cy="329184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dim color"/>
          <p:cNvSpPr txBox="1"/>
          <p:nvPr/>
        </p:nvSpPr>
        <p:spPr>
          <a:xfrm>
            <a:off x="8183880" y="23957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een categorie als kleur</a:t>
            </a:r>
            <a:endParaRPr lang="en-US" sz="1600" dirty="0"/>
          </a:p>
        </p:txBody>
      </p:sp>
      <p:sp>
        <p:nvSpPr>
          <p:cNvPr id="9" name="dim dot facet_col"/>
          <p:cNvSpPr/>
          <p:nvPr/>
        </p:nvSpPr>
        <p:spPr>
          <a:xfrm>
            <a:off x="7680960" y="3346704"/>
            <a:ext cx="329184" cy="329184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0" name="dim facet_col"/>
          <p:cNvSpPr txBox="1"/>
          <p:nvPr/>
        </p:nvSpPr>
        <p:spPr>
          <a:xfrm>
            <a:off x="8183880" y="323697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facet_col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één kleine grafiek per waarde</a:t>
            </a:r>
            <a:endParaRPr lang="en-US" sz="1600" dirty="0"/>
          </a:p>
        </p:txBody>
      </p:sp>
      <p:sp>
        <p:nvSpPr>
          <p:cNvPr id="11" name="dim dot size"/>
          <p:cNvSpPr/>
          <p:nvPr/>
        </p:nvSpPr>
        <p:spPr>
          <a:xfrm>
            <a:off x="7680960" y="4187952"/>
            <a:ext cx="329184" cy="329184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2" name="dim size"/>
          <p:cNvSpPr txBox="1"/>
          <p:nvPr/>
        </p:nvSpPr>
        <p:spPr>
          <a:xfrm>
            <a:off x="8183880" y="407822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een getal als puntgrootte</a:t>
            </a:r>
            <a:endParaRPr lang="en-US" sz="1600" dirty="0"/>
          </a:p>
        </p:txBody>
      </p:sp>
      <p:sp>
        <p:nvSpPr>
          <p:cNvPr id="13" name="dim dot labels, title"/>
          <p:cNvSpPr/>
          <p:nvPr/>
        </p:nvSpPr>
        <p:spPr>
          <a:xfrm>
            <a:off x="7680960" y="502920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dim labels, title"/>
          <p:cNvSpPr txBox="1"/>
          <p:nvPr/>
        </p:nvSpPr>
        <p:spPr>
          <a:xfrm>
            <a:off x="8183880" y="49194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labels, title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woorden die een coach begrijpt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Laat een grafiek reageren op de kijker</a:t>
            </a:r>
            <a:endParaRPr lang="en-US" sz="3400" dirty="0"/>
          </a:p>
        </p:txBody>
      </p:sp>
      <p:sp>
        <p:nvSpPr>
          <p:cNvPr id="3" name="flow Cel 1"/>
          <p:cNvSpPr/>
          <p:nvPr/>
        </p:nvSpPr>
        <p:spPr>
          <a:xfrm>
            <a:off x="548640" y="1600200"/>
            <a:ext cx="34290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flow Cel 1 text"/>
          <p:cNvSpPr txBox="1"/>
          <p:nvPr/>
        </p:nvSpPr>
        <p:spPr>
          <a:xfrm>
            <a:off x="822960" y="1783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Cel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athlete_picker = mo.ui.dropdown(...)</a:t>
            </a:r>
            <a:endParaRPr lang="en-US" sz="1600" dirty="0"/>
          </a:p>
        </p:txBody>
      </p:sp>
      <p:sp>
        <p:nvSpPr>
          <p:cNvPr id="5" name="flow arrow 1"/>
          <p:cNvSpPr/>
          <p:nvPr/>
        </p:nvSpPr>
        <p:spPr>
          <a:xfrm>
            <a:off x="4023360" y="2514600"/>
            <a:ext cx="2743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flow Cel 2"/>
          <p:cNvSpPr/>
          <p:nvPr/>
        </p:nvSpPr>
        <p:spPr>
          <a:xfrm>
            <a:off x="4343400" y="1600200"/>
            <a:ext cx="34290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flow Cel 2 text"/>
          <p:cNvSpPr txBox="1"/>
          <p:nvPr/>
        </p:nvSpPr>
        <p:spPr>
          <a:xfrm>
            <a:off x="4617720" y="1783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Cel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df[df.name == athlete_picker.value]</a:t>
            </a:r>
            <a:endParaRPr lang="en-US" sz="1600" dirty="0"/>
          </a:p>
        </p:txBody>
      </p:sp>
      <p:sp>
        <p:nvSpPr>
          <p:cNvPr id="8" name="flow arrow 2"/>
          <p:cNvSpPr/>
          <p:nvPr/>
        </p:nvSpPr>
        <p:spPr>
          <a:xfrm>
            <a:off x="7818120" y="2514600"/>
            <a:ext cx="2743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flow Resultaat"/>
          <p:cNvSpPr/>
          <p:nvPr/>
        </p:nvSpPr>
        <p:spPr>
          <a:xfrm>
            <a:off x="8138160" y="1600200"/>
            <a:ext cx="342900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10" name="flow Resultaat text"/>
          <p:cNvSpPr txBox="1"/>
          <p:nvPr/>
        </p:nvSpPr>
        <p:spPr>
          <a:xfrm>
            <a:off x="8412480" y="1783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Resultaat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 grafiek tekent zichzelf opnieuw</a:t>
            </a:r>
            <a:endParaRPr lang="en-US" sz="1600" dirty="0"/>
          </a:p>
        </p:txBody>
      </p:sp>
      <p:sp>
        <p:nvSpPr>
          <p:cNvPr id="11" name="Aanmaken en lezen in aparte cellen circle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Aanmaken en lezen in aparte cellen icon" descr="Aanmaken en lezen in aparte cel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4229100"/>
            <a:ext cx="320040" cy="320040"/>
          </a:xfrm>
          <a:prstGeom prst="rect">
            <a:avLst/>
          </a:prstGeom>
        </p:spPr>
      </p:pic>
      <p:sp>
        <p:nvSpPr>
          <p:cNvPr id="13" name="Aanmaken en lezen in aparte cellen text"/>
          <p:cNvSpPr txBox="1"/>
          <p:nvPr/>
        </p:nvSpPr>
        <p:spPr>
          <a:xfrm>
            <a:off x="1371600" y="406908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Aanmaken en lezen in aparte cellen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.value van een element kun je alleen gebruiken in een andere cel dan die waarin je het aanmaakt.</a:t>
            </a:r>
            <a:endParaRPr lang="en-US" sz="1600" dirty="0"/>
          </a:p>
        </p:txBody>
      </p:sp>
      <p:sp>
        <p:nvSpPr>
          <p:cNvPr id="14" name="Keuzemenu's en schuifbalken circle"/>
          <p:cNvSpPr/>
          <p:nvPr/>
        </p:nvSpPr>
        <p:spPr>
          <a:xfrm>
            <a:off x="4343400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Keuzemenu's en schuifbalken icon" descr="Keuzemenu's en schuifbalk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4229100"/>
            <a:ext cx="320040" cy="320040"/>
          </a:xfrm>
          <a:prstGeom prst="rect">
            <a:avLst/>
          </a:prstGeom>
        </p:spPr>
      </p:pic>
      <p:sp>
        <p:nvSpPr>
          <p:cNvPr id="16" name="Keuzemenu's en schuifbalken text"/>
          <p:cNvSpPr txBox="1"/>
          <p:nvPr/>
        </p:nvSpPr>
        <p:spPr>
          <a:xfrm>
            <a:off x="5166360" y="406908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Keuzemenu's en schuifbalken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mo.ui.dropdown en mo.ui.range_slider filteren de hartslaggrafiek op atleet en tijdvenster.</a:t>
            </a:r>
            <a:endParaRPr lang="en-US" sz="1600" dirty="0"/>
          </a:p>
        </p:txBody>
      </p:sp>
      <p:sp>
        <p:nvSpPr>
          <p:cNvPr id="17" name="Optioneel: selecteren in de grafiek circle"/>
          <p:cNvSpPr/>
          <p:nvPr/>
        </p:nvSpPr>
        <p:spPr>
          <a:xfrm>
            <a:off x="8138160" y="4069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Optioneel: selecteren in de grafiek icon" descr="Optioneel: selecteren in de grafie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4229100"/>
            <a:ext cx="320040" cy="320040"/>
          </a:xfrm>
          <a:prstGeom prst="rect">
            <a:avLst/>
          </a:prstGeom>
        </p:spPr>
      </p:pic>
      <p:sp>
        <p:nvSpPr>
          <p:cNvPr id="19" name="Optioneel: selecteren in de grafiek text"/>
          <p:cNvSpPr txBox="1"/>
          <p:nvPr/>
        </p:nvSpPr>
        <p:spPr>
          <a:xfrm>
            <a:off x="8961120" y="406908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Optioneel: selecteren in de grafiek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mo.ui.plotly zet een lassoselectie om in een dataframe dat je kunt gebruiken.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Oefeningen labo 5 en het minidashboard</a:t>
            </a:r>
            <a:endParaRPr lang="en-US" sz="3400" dirty="0"/>
          </a:p>
        </p:txBody>
      </p:sp>
      <p:sp>
        <p:nvSpPr>
          <p:cNvPr id="3" name="lab 5 exercises card 1"/>
          <p:cNvSpPr/>
          <p:nvPr/>
        </p:nvSpPr>
        <p:spPr>
          <a:xfrm>
            <a:off x="548640" y="146304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lab 5 exercises number 1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lab 5 exercises number text 1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lab 5 exercises text 1"/>
          <p:cNvSpPr txBox="1"/>
          <p:nvPr/>
        </p:nvSpPr>
        <p:spPr>
          <a:xfrm>
            <a:off x="1508760" y="1600200"/>
            <a:ext cx="4267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Histogram van het gewicht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px.histogram met een titel en een aslabel</a:t>
            </a:r>
            <a:endParaRPr lang="en-US" sz="1600" dirty="0"/>
          </a:p>
        </p:txBody>
      </p:sp>
      <p:sp>
        <p:nvSpPr>
          <p:cNvPr id="7" name="lab 5 exercises card 2"/>
          <p:cNvSpPr/>
          <p:nvPr/>
        </p:nvSpPr>
        <p:spPr>
          <a:xfrm>
            <a:off x="6233008" y="146304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lab 5 exercises number 2"/>
          <p:cNvSpPr/>
          <p:nvPr/>
        </p:nvSpPr>
        <p:spPr>
          <a:xfrm>
            <a:off x="6461608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lab 5 exercises number text 2"/>
          <p:cNvSpPr txBox="1"/>
          <p:nvPr/>
        </p:nvSpPr>
        <p:spPr>
          <a:xfrm>
            <a:off x="64616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lab 5 exercises text 2"/>
          <p:cNvSpPr txBox="1"/>
          <p:nvPr/>
        </p:nvSpPr>
        <p:spPr>
          <a:xfrm>
            <a:off x="7193128" y="1600200"/>
            <a:ext cx="4267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Yo-Yo per positie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px.box, met facetten per geslacht</a:t>
            </a:r>
            <a:endParaRPr lang="en-US" sz="1600" dirty="0"/>
          </a:p>
        </p:txBody>
      </p:sp>
      <p:sp>
        <p:nvSpPr>
          <p:cNvPr id="11" name="lab 5 exercises card 3"/>
          <p:cNvSpPr/>
          <p:nvPr/>
        </p:nvSpPr>
        <p:spPr>
          <a:xfrm>
            <a:off x="548640" y="356616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lab 5 exercises number 3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lab 5 exercises number text 3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lab 5 exercises text 3"/>
          <p:cNvSpPr txBox="1"/>
          <p:nvPr/>
        </p:nvSpPr>
        <p:spPr>
          <a:xfrm>
            <a:off x="1508760" y="3703320"/>
            <a:ext cx="4267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Snelheid doorheen de tijd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px.line voor één atleet</a:t>
            </a:r>
            <a:endParaRPr lang="en-US" sz="1600" dirty="0"/>
          </a:p>
        </p:txBody>
      </p:sp>
      <p:sp>
        <p:nvSpPr>
          <p:cNvPr id="15" name="lab 5 exercises card 4"/>
          <p:cNvSpPr/>
          <p:nvPr/>
        </p:nvSpPr>
        <p:spPr>
          <a:xfrm>
            <a:off x="6233008" y="356616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16" name="lab 5 exercises number 4"/>
          <p:cNvSpPr/>
          <p:nvPr/>
        </p:nvSpPr>
        <p:spPr>
          <a:xfrm>
            <a:off x="6461608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lab 5 exercises number text 4"/>
          <p:cNvSpPr txBox="1"/>
          <p:nvPr/>
        </p:nvSpPr>
        <p:spPr>
          <a:xfrm>
            <a:off x="646160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18" name="lab 5 exercises text 4"/>
          <p:cNvSpPr txBox="1"/>
          <p:nvPr/>
        </p:nvSpPr>
        <p:spPr>
          <a:xfrm>
            <a:off x="7193128" y="3703320"/>
            <a:ext cx="4267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Minidashboard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 grafieken + 1 keuzemenu waarop minstens één grafiek reageert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AFSLUITER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Van CSV-export tot dashboard in drie sessies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57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Labo 3: een nette, betrouwbare tabel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Labo 4: samenvattingen, merges en tijdreekskenmerken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Labo 5: eerlijke grafieken en een interactief dashboard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Volgende stap: casepresentaties en het Project Lab</a:t>
            </a:r>
            <a:endParaRPr lang="en-US" sz="1600" dirty="0"/>
          </a:p>
        </p:txBody>
      </p:sp>
      <p:sp>
        <p:nvSpPr>
          <p:cNvPr id="5" name="finish emblem circle"/>
          <p:cNvSpPr/>
          <p:nvPr/>
        </p:nvSpPr>
        <p:spPr>
          <a:xfrm>
            <a:off x="7863840" y="1737360"/>
            <a:ext cx="3108960" cy="3108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finish emblem icon" descr="finish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514600"/>
            <a:ext cx="1554480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b Data">
  <a:themeElements>
    <a:clrScheme name="Club Data">
      <a:dk1>
        <a:srgbClr val="1A1F1C"/>
      </a:dk1>
      <a:lt1>
        <a:srgbClr val="FFFFFF"/>
      </a:lt1>
      <a:dk2>
        <a:srgbClr val="0F3D2E"/>
      </a:dk2>
      <a:lt2>
        <a:srgbClr val="EEF3EF"/>
      </a:lt2>
      <a:accent1>
        <a:srgbClr val="EB6834"/>
      </a:accent1>
      <a:accent2>
        <a:srgbClr val="1BAF7A"/>
      </a:accent2>
      <a:accent3>
        <a:srgbClr val="2A78D6"/>
      </a:accent3>
      <a:accent4>
        <a:srgbClr val="EDA100"/>
      </a:accent4>
      <a:accent5>
        <a:srgbClr val="C6F432"/>
      </a:accent5>
      <a:accent6>
        <a:srgbClr val="5B6B63"/>
      </a:accent6>
      <a:hlink>
        <a:srgbClr val="2A78D6"/>
      </a:hlink>
      <a:folHlink>
        <a:srgbClr val="1C5CAB"/>
      </a:folHlink>
    </a:clrScheme>
    <a:fontScheme name="Club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1 - labo's 3 tot 5</dc:title>
  <dc:subject>PptxGenJS Presentation</dc:subject>
  <dc:creator>Data Science 1</dc:creator>
  <cp:lastModifiedBy>Data Science 1</cp:lastModifiedBy>
  <cp:revision>1</cp:revision>
  <dcterms:created xsi:type="dcterms:W3CDTF">2026-10-16T09:20:28Z</dcterms:created>
  <dcterms:modified xsi:type="dcterms:W3CDTF">2026-10-16T09:20:28Z</dcterms:modified>
</cp:coreProperties>
</file>